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rt-title"/>
          <p:cNvSpPr txBox="1"/>
          <p:nvPr/>
        </p:nvSpPr>
        <p:spPr>
          <a:xfrm>
            <a:off x="3749039" y="182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Results of benchmarking by reaction type</a:t>
            </a:r>
          </a:p>
        </p:txBody>
      </p:sp>
      <p:sp>
        <p:nvSpPr>
          <p:cNvPr id="3" name="bar-0-0"/>
          <p:cNvSpPr/>
          <p:nvPr/>
        </p:nvSpPr>
        <p:spPr>
          <a:xfrm>
            <a:off x="752024" y="960119"/>
            <a:ext cx="66224" cy="406908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r-0-1"/>
          <p:cNvSpPr/>
          <p:nvPr/>
        </p:nvSpPr>
        <p:spPr>
          <a:xfrm>
            <a:off x="81824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r-0-2"/>
          <p:cNvSpPr/>
          <p:nvPr/>
        </p:nvSpPr>
        <p:spPr>
          <a:xfrm>
            <a:off x="884474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bel-0"/>
          <p:cNvSpPr txBox="1"/>
          <p:nvPr/>
        </p:nvSpPr>
        <p:spPr>
          <a:xfrm rot="3300000">
            <a:off x="53132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Dcc condensation</a:t>
            </a:r>
          </a:p>
        </p:txBody>
      </p:sp>
      <p:sp>
        <p:nvSpPr>
          <p:cNvPr id="7" name="bar-1-0"/>
          <p:cNvSpPr/>
          <p:nvPr/>
        </p:nvSpPr>
        <p:spPr>
          <a:xfrm>
            <a:off x="1083148" y="1485162"/>
            <a:ext cx="66224" cy="354403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r-1-1"/>
          <p:cNvSpPr/>
          <p:nvPr/>
        </p:nvSpPr>
        <p:spPr>
          <a:xfrm>
            <a:off x="114937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r-1-2"/>
          <p:cNvSpPr/>
          <p:nvPr/>
        </p:nvSpPr>
        <p:spPr>
          <a:xfrm>
            <a:off x="1215597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-1"/>
          <p:cNvSpPr txBox="1"/>
          <p:nvPr/>
        </p:nvSpPr>
        <p:spPr>
          <a:xfrm rot="3300000">
            <a:off x="86244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(thio)carbonyl or sulfonyl</a:t>
            </a:r>
          </a:p>
        </p:txBody>
      </p:sp>
      <p:sp>
        <p:nvSpPr>
          <p:cNvPr id="11" name="bar-2-0"/>
          <p:cNvSpPr/>
          <p:nvPr/>
        </p:nvSpPr>
        <p:spPr>
          <a:xfrm>
            <a:off x="1414272" y="3191550"/>
            <a:ext cx="66224" cy="1837649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-2-1"/>
          <p:cNvSpPr/>
          <p:nvPr/>
        </p:nvSpPr>
        <p:spPr>
          <a:xfrm>
            <a:off x="148049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-2-2"/>
          <p:cNvSpPr/>
          <p:nvPr/>
        </p:nvSpPr>
        <p:spPr>
          <a:xfrm>
            <a:off x="1546721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bel-2"/>
          <p:cNvSpPr txBox="1"/>
          <p:nvPr/>
        </p:nvSpPr>
        <p:spPr>
          <a:xfrm rot="3300000">
            <a:off x="119356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 alcohol(thiol)</a:t>
            </a:r>
          </a:p>
        </p:txBody>
      </p:sp>
      <p:sp>
        <p:nvSpPr>
          <p:cNvPr id="15" name="bar-3-0"/>
          <p:cNvSpPr/>
          <p:nvPr/>
        </p:nvSpPr>
        <p:spPr>
          <a:xfrm>
            <a:off x="1745395" y="3454072"/>
            <a:ext cx="66224" cy="157512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-3-1"/>
          <p:cNvSpPr/>
          <p:nvPr/>
        </p:nvSpPr>
        <p:spPr>
          <a:xfrm>
            <a:off x="181162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-3-2"/>
          <p:cNvSpPr/>
          <p:nvPr/>
        </p:nvSpPr>
        <p:spPr>
          <a:xfrm>
            <a:off x="1877845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el-3"/>
          <p:cNvSpPr txBox="1"/>
          <p:nvPr/>
        </p:nvSpPr>
        <p:spPr>
          <a:xfrm rot="3300000">
            <a:off x="152469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</a:t>
            </a:r>
          </a:p>
        </p:txBody>
      </p:sp>
      <p:sp>
        <p:nvSpPr>
          <p:cNvPr id="19" name="bar-4-0"/>
          <p:cNvSpPr/>
          <p:nvPr/>
        </p:nvSpPr>
        <p:spPr>
          <a:xfrm>
            <a:off x="2076519" y="3847854"/>
            <a:ext cx="66224" cy="1181345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-4-1"/>
          <p:cNvSpPr/>
          <p:nvPr/>
        </p:nvSpPr>
        <p:spPr>
          <a:xfrm>
            <a:off x="2142744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-4-2"/>
          <p:cNvSpPr/>
          <p:nvPr/>
        </p:nvSpPr>
        <p:spPr>
          <a:xfrm>
            <a:off x="2208968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el-4"/>
          <p:cNvSpPr txBox="1"/>
          <p:nvPr/>
        </p:nvSpPr>
        <p:spPr>
          <a:xfrm rot="3300000">
            <a:off x="185581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Boc deprotection</a:t>
            </a:r>
          </a:p>
        </p:txBody>
      </p:sp>
      <p:sp>
        <p:nvSpPr>
          <p:cNvPr id="23" name="bar-5-0"/>
          <p:cNvSpPr/>
          <p:nvPr/>
        </p:nvSpPr>
        <p:spPr>
          <a:xfrm>
            <a:off x="2407642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-5-1"/>
          <p:cNvSpPr/>
          <p:nvPr/>
        </p:nvSpPr>
        <p:spPr>
          <a:xfrm>
            <a:off x="2473867" y="4110375"/>
            <a:ext cx="66224" cy="91882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-5-2"/>
          <p:cNvSpPr/>
          <p:nvPr/>
        </p:nvSpPr>
        <p:spPr>
          <a:xfrm>
            <a:off x="2540092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bel-5"/>
          <p:cNvSpPr txBox="1"/>
          <p:nvPr/>
        </p:nvSpPr>
        <p:spPr>
          <a:xfrm rot="3300000">
            <a:off x="218694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Reductive amination</a:t>
            </a:r>
          </a:p>
        </p:txBody>
      </p:sp>
      <p:sp>
        <p:nvSpPr>
          <p:cNvPr id="27" name="bar-6-0"/>
          <p:cNvSpPr/>
          <p:nvPr/>
        </p:nvSpPr>
        <p:spPr>
          <a:xfrm>
            <a:off x="2738766" y="4372896"/>
            <a:ext cx="66224" cy="65630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-6-1"/>
          <p:cNvSpPr/>
          <p:nvPr/>
        </p:nvSpPr>
        <p:spPr>
          <a:xfrm>
            <a:off x="280499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r-6-2"/>
          <p:cNvSpPr/>
          <p:nvPr/>
        </p:nvSpPr>
        <p:spPr>
          <a:xfrm>
            <a:off x="2871216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abel-6"/>
          <p:cNvSpPr txBox="1"/>
          <p:nvPr/>
        </p:nvSpPr>
        <p:spPr>
          <a:xfrm rot="3300000">
            <a:off x="251806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Snar(ortho)</a:t>
            </a:r>
          </a:p>
        </p:txBody>
      </p:sp>
      <p:sp>
        <p:nvSpPr>
          <p:cNvPr id="31" name="bar-7-0"/>
          <p:cNvSpPr/>
          <p:nvPr/>
        </p:nvSpPr>
        <p:spPr>
          <a:xfrm>
            <a:off x="3069890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ar-7-1"/>
          <p:cNvSpPr/>
          <p:nvPr/>
        </p:nvSpPr>
        <p:spPr>
          <a:xfrm>
            <a:off x="3136114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ar-7-2"/>
          <p:cNvSpPr/>
          <p:nvPr/>
        </p:nvSpPr>
        <p:spPr>
          <a:xfrm>
            <a:off x="3202339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abel-7"/>
          <p:cNvSpPr txBox="1"/>
          <p:nvPr/>
        </p:nvSpPr>
        <p:spPr>
          <a:xfrm rot="3300000">
            <a:off x="284918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Alcohol attack to carbonyl or sulfonyl</a:t>
            </a:r>
          </a:p>
        </p:txBody>
      </p:sp>
      <p:sp>
        <p:nvSpPr>
          <p:cNvPr id="35" name="bar-8-0"/>
          <p:cNvSpPr/>
          <p:nvPr/>
        </p:nvSpPr>
        <p:spPr>
          <a:xfrm>
            <a:off x="3401013" y="4504157"/>
            <a:ext cx="66224" cy="525042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-8-1"/>
          <p:cNvSpPr/>
          <p:nvPr/>
        </p:nvSpPr>
        <p:spPr>
          <a:xfrm>
            <a:off x="346723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8-2"/>
          <p:cNvSpPr/>
          <p:nvPr/>
        </p:nvSpPr>
        <p:spPr>
          <a:xfrm>
            <a:off x="3533463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abel-8"/>
          <p:cNvSpPr txBox="1"/>
          <p:nvPr/>
        </p:nvSpPr>
        <p:spPr>
          <a:xfrm rot="3300000">
            <a:off x="318031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Imine formation</a:t>
            </a:r>
          </a:p>
        </p:txBody>
      </p:sp>
      <p:sp>
        <p:nvSpPr>
          <p:cNvPr id="39" name="bar-9-0"/>
          <p:cNvSpPr/>
          <p:nvPr/>
        </p:nvSpPr>
        <p:spPr>
          <a:xfrm>
            <a:off x="3732137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9-1"/>
          <p:cNvSpPr/>
          <p:nvPr/>
        </p:nvSpPr>
        <p:spPr>
          <a:xfrm>
            <a:off x="379836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9-2"/>
          <p:cNvSpPr/>
          <p:nvPr/>
        </p:nvSpPr>
        <p:spPr>
          <a:xfrm>
            <a:off x="386458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abel-9"/>
          <p:cNvSpPr txBox="1"/>
          <p:nvPr/>
        </p:nvSpPr>
        <p:spPr>
          <a:xfrm rot="3300000">
            <a:off x="351143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Carbonyl reduction</a:t>
            </a:r>
          </a:p>
        </p:txBody>
      </p:sp>
      <p:sp>
        <p:nvSpPr>
          <p:cNvPr id="43" name="bar-10-0"/>
          <p:cNvSpPr/>
          <p:nvPr/>
        </p:nvSpPr>
        <p:spPr>
          <a:xfrm>
            <a:off x="4063261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10-1"/>
          <p:cNvSpPr/>
          <p:nvPr/>
        </p:nvSpPr>
        <p:spPr>
          <a:xfrm>
            <a:off x="412948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-10-2"/>
          <p:cNvSpPr/>
          <p:nvPr/>
        </p:nvSpPr>
        <p:spPr>
          <a:xfrm>
            <a:off x="4195710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abel-10"/>
          <p:cNvSpPr txBox="1"/>
          <p:nvPr/>
        </p:nvSpPr>
        <p:spPr>
          <a:xfrm rot="3300000">
            <a:off x="384255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Ester reduction</a:t>
            </a:r>
          </a:p>
        </p:txBody>
      </p:sp>
      <p:sp>
        <p:nvSpPr>
          <p:cNvPr id="47" name="bar-11-0"/>
          <p:cNvSpPr/>
          <p:nvPr/>
        </p:nvSpPr>
        <p:spPr>
          <a:xfrm>
            <a:off x="4394384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ar-11-1"/>
          <p:cNvSpPr/>
          <p:nvPr/>
        </p:nvSpPr>
        <p:spPr>
          <a:xfrm>
            <a:off x="446060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ar-11-2"/>
          <p:cNvSpPr/>
          <p:nvPr/>
        </p:nvSpPr>
        <p:spPr>
          <a:xfrm>
            <a:off x="4526834" y="4766678"/>
            <a:ext cx="66224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abel-11"/>
          <p:cNvSpPr txBox="1"/>
          <p:nvPr/>
        </p:nvSpPr>
        <p:spPr>
          <a:xfrm rot="3300000">
            <a:off x="417368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Snar(para)</a:t>
            </a:r>
          </a:p>
        </p:txBody>
      </p:sp>
      <p:sp>
        <p:nvSpPr>
          <p:cNvPr id="51" name="bar-12-0"/>
          <p:cNvSpPr/>
          <p:nvPr/>
        </p:nvSpPr>
        <p:spPr>
          <a:xfrm>
            <a:off x="4725508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ar-12-1"/>
          <p:cNvSpPr/>
          <p:nvPr/>
        </p:nvSpPr>
        <p:spPr>
          <a:xfrm>
            <a:off x="4791733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r-12-2"/>
          <p:cNvSpPr/>
          <p:nvPr/>
        </p:nvSpPr>
        <p:spPr>
          <a:xfrm>
            <a:off x="4857957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bel-12"/>
          <p:cNvSpPr txBox="1"/>
          <p:nvPr/>
        </p:nvSpPr>
        <p:spPr>
          <a:xfrm rot="3300000">
            <a:off x="450480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Aldol condensation</a:t>
            </a:r>
          </a:p>
        </p:txBody>
      </p:sp>
      <p:sp>
        <p:nvSpPr>
          <p:cNvPr id="55" name="bar-13-0"/>
          <p:cNvSpPr/>
          <p:nvPr/>
        </p:nvSpPr>
        <p:spPr>
          <a:xfrm>
            <a:off x="505663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r-13-1"/>
          <p:cNvSpPr/>
          <p:nvPr/>
        </p:nvSpPr>
        <p:spPr>
          <a:xfrm>
            <a:off x="512285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r-13-2"/>
          <p:cNvSpPr/>
          <p:nvPr/>
        </p:nvSpPr>
        <p:spPr>
          <a:xfrm>
            <a:off x="5189081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abel-13"/>
          <p:cNvSpPr txBox="1"/>
          <p:nvPr/>
        </p:nvSpPr>
        <p:spPr>
          <a:xfrm rot="3300000">
            <a:off x="483592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Double sn2</a:t>
            </a:r>
          </a:p>
        </p:txBody>
      </p:sp>
      <p:sp>
        <p:nvSpPr>
          <p:cNvPr id="59" name="bar-14-0"/>
          <p:cNvSpPr/>
          <p:nvPr/>
        </p:nvSpPr>
        <p:spPr>
          <a:xfrm>
            <a:off x="5387755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ar-14-1"/>
          <p:cNvSpPr/>
          <p:nvPr/>
        </p:nvSpPr>
        <p:spPr>
          <a:xfrm>
            <a:off x="545398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ar-14-2"/>
          <p:cNvSpPr/>
          <p:nvPr/>
        </p:nvSpPr>
        <p:spPr>
          <a:xfrm>
            <a:off x="5520205" y="4766678"/>
            <a:ext cx="66224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abel-14"/>
          <p:cNvSpPr txBox="1"/>
          <p:nvPr/>
        </p:nvSpPr>
        <p:spPr>
          <a:xfrm rot="3300000">
            <a:off x="516705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Staudinger</a:t>
            </a:r>
          </a:p>
        </p:txBody>
      </p:sp>
      <p:sp>
        <p:nvSpPr>
          <p:cNvPr id="63" name="bar-15-0"/>
          <p:cNvSpPr/>
          <p:nvPr/>
        </p:nvSpPr>
        <p:spPr>
          <a:xfrm>
            <a:off x="5718879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ar-15-1"/>
          <p:cNvSpPr/>
          <p:nvPr/>
        </p:nvSpPr>
        <p:spPr>
          <a:xfrm>
            <a:off x="5785104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ar-15-2"/>
          <p:cNvSpPr/>
          <p:nvPr/>
        </p:nvSpPr>
        <p:spPr>
          <a:xfrm>
            <a:off x="5851328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abel-15"/>
          <p:cNvSpPr txBox="1"/>
          <p:nvPr/>
        </p:nvSpPr>
        <p:spPr>
          <a:xfrm rot="3300000">
            <a:off x="549817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Carboxylic acid derivative hydrolysis or formation</a:t>
            </a:r>
          </a:p>
        </p:txBody>
      </p:sp>
      <p:sp>
        <p:nvSpPr>
          <p:cNvPr id="67" name="bar-16-0"/>
          <p:cNvSpPr/>
          <p:nvPr/>
        </p:nvSpPr>
        <p:spPr>
          <a:xfrm>
            <a:off x="605000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ar-16-1"/>
          <p:cNvSpPr/>
          <p:nvPr/>
        </p:nvSpPr>
        <p:spPr>
          <a:xfrm>
            <a:off x="6116227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ar-16-2"/>
          <p:cNvSpPr/>
          <p:nvPr/>
        </p:nvSpPr>
        <p:spPr>
          <a:xfrm>
            <a:off x="6182452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abel-16"/>
          <p:cNvSpPr txBox="1"/>
          <p:nvPr/>
        </p:nvSpPr>
        <p:spPr>
          <a:xfrm rot="3300000">
            <a:off x="582930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Friedel crafts acylation</a:t>
            </a:r>
          </a:p>
        </p:txBody>
      </p:sp>
      <p:sp>
        <p:nvSpPr>
          <p:cNvPr id="71" name="bar-17-0"/>
          <p:cNvSpPr/>
          <p:nvPr/>
        </p:nvSpPr>
        <p:spPr>
          <a:xfrm>
            <a:off x="6381126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ar-17-1"/>
          <p:cNvSpPr/>
          <p:nvPr/>
        </p:nvSpPr>
        <p:spPr>
          <a:xfrm>
            <a:off x="644735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ar-17-2"/>
          <p:cNvSpPr/>
          <p:nvPr/>
        </p:nvSpPr>
        <p:spPr>
          <a:xfrm>
            <a:off x="651357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abel-17"/>
          <p:cNvSpPr txBox="1"/>
          <p:nvPr/>
        </p:nvSpPr>
        <p:spPr>
          <a:xfrm rot="3300000">
            <a:off x="616042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Grignard</a:t>
            </a:r>
          </a:p>
        </p:txBody>
      </p:sp>
      <p:sp>
        <p:nvSpPr>
          <p:cNvPr id="75" name="bar-18-0"/>
          <p:cNvSpPr/>
          <p:nvPr/>
        </p:nvSpPr>
        <p:spPr>
          <a:xfrm>
            <a:off x="6712250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bar-18-1"/>
          <p:cNvSpPr/>
          <p:nvPr/>
        </p:nvSpPr>
        <p:spPr>
          <a:xfrm>
            <a:off x="677847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ar-18-2"/>
          <p:cNvSpPr/>
          <p:nvPr/>
        </p:nvSpPr>
        <p:spPr>
          <a:xfrm>
            <a:off x="6844699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abel-18"/>
          <p:cNvSpPr txBox="1"/>
          <p:nvPr/>
        </p:nvSpPr>
        <p:spPr>
          <a:xfrm rot="3300000">
            <a:off x="649154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Paal knorr pyrrole synthesis</a:t>
            </a:r>
          </a:p>
        </p:txBody>
      </p:sp>
      <p:sp>
        <p:nvSpPr>
          <p:cNvPr id="79" name="bar-19-0"/>
          <p:cNvSpPr/>
          <p:nvPr/>
        </p:nvSpPr>
        <p:spPr>
          <a:xfrm>
            <a:off x="7043373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bar-19-1"/>
          <p:cNvSpPr/>
          <p:nvPr/>
        </p:nvSpPr>
        <p:spPr>
          <a:xfrm>
            <a:off x="710959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bar-19-2"/>
          <p:cNvSpPr/>
          <p:nvPr/>
        </p:nvSpPr>
        <p:spPr>
          <a:xfrm>
            <a:off x="7175823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label-19"/>
          <p:cNvSpPr txBox="1"/>
          <p:nvPr/>
        </p:nvSpPr>
        <p:spPr>
          <a:xfrm rot="3300000">
            <a:off x="682267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iso(thio)cyanate</a:t>
            </a:r>
          </a:p>
        </p:txBody>
      </p:sp>
      <p:sp>
        <p:nvSpPr>
          <p:cNvPr id="83" name="bar-20-0"/>
          <p:cNvSpPr/>
          <p:nvPr/>
        </p:nvSpPr>
        <p:spPr>
          <a:xfrm>
            <a:off x="7374497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ar-20-1"/>
          <p:cNvSpPr/>
          <p:nvPr/>
        </p:nvSpPr>
        <p:spPr>
          <a:xfrm>
            <a:off x="744072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ar-20-2"/>
          <p:cNvSpPr/>
          <p:nvPr/>
        </p:nvSpPr>
        <p:spPr>
          <a:xfrm>
            <a:off x="750694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abel-20"/>
          <p:cNvSpPr txBox="1"/>
          <p:nvPr/>
        </p:nvSpPr>
        <p:spPr>
          <a:xfrm rot="3300000">
            <a:off x="715379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Primary amide dehydration</a:t>
            </a:r>
          </a:p>
        </p:txBody>
      </p:sp>
      <p:sp>
        <p:nvSpPr>
          <p:cNvPr id="87" name="bar-21-0"/>
          <p:cNvSpPr/>
          <p:nvPr/>
        </p:nvSpPr>
        <p:spPr>
          <a:xfrm>
            <a:off x="770562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ar-21-1"/>
          <p:cNvSpPr/>
          <p:nvPr/>
        </p:nvSpPr>
        <p:spPr>
          <a:xfrm>
            <a:off x="777184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ar-21-2"/>
          <p:cNvSpPr/>
          <p:nvPr/>
        </p:nvSpPr>
        <p:spPr>
          <a:xfrm>
            <a:off x="7838070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abel-21"/>
          <p:cNvSpPr txBox="1"/>
          <p:nvPr/>
        </p:nvSpPr>
        <p:spPr>
          <a:xfrm rot="3300000">
            <a:off x="748491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Horner wadsworth emmons</a:t>
            </a:r>
          </a:p>
        </p:txBody>
      </p:sp>
      <p:sp>
        <p:nvSpPr>
          <p:cNvPr id="91" name="bar-22-0"/>
          <p:cNvSpPr/>
          <p:nvPr/>
        </p:nvSpPr>
        <p:spPr>
          <a:xfrm>
            <a:off x="8036744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ar-22-1"/>
          <p:cNvSpPr/>
          <p:nvPr/>
        </p:nvSpPr>
        <p:spPr>
          <a:xfrm>
            <a:off x="810296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bar-22-2"/>
          <p:cNvSpPr/>
          <p:nvPr/>
        </p:nvSpPr>
        <p:spPr>
          <a:xfrm>
            <a:off x="8169194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abel-22"/>
          <p:cNvSpPr txBox="1"/>
          <p:nvPr/>
        </p:nvSpPr>
        <p:spPr>
          <a:xfrm rot="3300000">
            <a:off x="781604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Jones oxidation</a:t>
            </a:r>
          </a:p>
        </p:txBody>
      </p:sp>
      <p:sp>
        <p:nvSpPr>
          <p:cNvPr id="95" name="bar-23-0"/>
          <p:cNvSpPr/>
          <p:nvPr/>
        </p:nvSpPr>
        <p:spPr>
          <a:xfrm>
            <a:off x="8367868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bar-23-1"/>
          <p:cNvSpPr/>
          <p:nvPr/>
        </p:nvSpPr>
        <p:spPr>
          <a:xfrm>
            <a:off x="843409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bar-23-2"/>
          <p:cNvSpPr/>
          <p:nvPr/>
        </p:nvSpPr>
        <p:spPr>
          <a:xfrm>
            <a:off x="8500317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abel-23"/>
          <p:cNvSpPr txBox="1"/>
          <p:nvPr/>
        </p:nvSpPr>
        <p:spPr>
          <a:xfrm rot="3300000">
            <a:off x="814716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Markovnikov addition</a:t>
            </a:r>
          </a:p>
        </p:txBody>
      </p:sp>
      <p:sp>
        <p:nvSpPr>
          <p:cNvPr id="99" name="bar-24-0"/>
          <p:cNvSpPr/>
          <p:nvPr/>
        </p:nvSpPr>
        <p:spPr>
          <a:xfrm>
            <a:off x="869899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bar-24-1"/>
          <p:cNvSpPr/>
          <p:nvPr/>
        </p:nvSpPr>
        <p:spPr>
          <a:xfrm>
            <a:off x="8765216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bar-24-2"/>
          <p:cNvSpPr/>
          <p:nvPr/>
        </p:nvSpPr>
        <p:spPr>
          <a:xfrm>
            <a:off x="8831441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label-24"/>
          <p:cNvSpPr txBox="1"/>
          <p:nvPr/>
        </p:nvSpPr>
        <p:spPr>
          <a:xfrm rot="3300000">
            <a:off x="847828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O demethylation</a:t>
            </a:r>
          </a:p>
        </p:txBody>
      </p:sp>
      <p:sp>
        <p:nvSpPr>
          <p:cNvPr id="103" name="bar-25-0"/>
          <p:cNvSpPr/>
          <p:nvPr/>
        </p:nvSpPr>
        <p:spPr>
          <a:xfrm>
            <a:off x="9030115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bar-25-1"/>
          <p:cNvSpPr/>
          <p:nvPr/>
        </p:nvSpPr>
        <p:spPr>
          <a:xfrm>
            <a:off x="909634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bar-25-2"/>
          <p:cNvSpPr/>
          <p:nvPr/>
        </p:nvSpPr>
        <p:spPr>
          <a:xfrm>
            <a:off x="9162565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abel-25"/>
          <p:cNvSpPr txBox="1"/>
          <p:nvPr/>
        </p:nvSpPr>
        <p:spPr>
          <a:xfrm rot="3300000">
            <a:off x="880941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alco(thi)ol(ortho)</a:t>
            </a:r>
          </a:p>
        </p:txBody>
      </p:sp>
      <p:sp>
        <p:nvSpPr>
          <p:cNvPr id="107" name="bar-26-0"/>
          <p:cNvSpPr/>
          <p:nvPr/>
        </p:nvSpPr>
        <p:spPr>
          <a:xfrm>
            <a:off x="9361239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bar-26-1"/>
          <p:cNvSpPr/>
          <p:nvPr/>
        </p:nvSpPr>
        <p:spPr>
          <a:xfrm>
            <a:off x="942746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bar-26-2"/>
          <p:cNvSpPr/>
          <p:nvPr/>
        </p:nvSpPr>
        <p:spPr>
          <a:xfrm>
            <a:off x="9493688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label-26"/>
          <p:cNvSpPr txBox="1"/>
          <p:nvPr/>
        </p:nvSpPr>
        <p:spPr>
          <a:xfrm rot="3300000">
            <a:off x="914053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alco(thi)ol(para)</a:t>
            </a:r>
          </a:p>
        </p:txBody>
      </p:sp>
      <p:sp>
        <p:nvSpPr>
          <p:cNvPr id="111" name="bar-27-0"/>
          <p:cNvSpPr/>
          <p:nvPr/>
        </p:nvSpPr>
        <p:spPr>
          <a:xfrm>
            <a:off x="9692362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bar-27-1"/>
          <p:cNvSpPr/>
          <p:nvPr/>
        </p:nvSpPr>
        <p:spPr>
          <a:xfrm>
            <a:off x="9758587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bar-27-2"/>
          <p:cNvSpPr/>
          <p:nvPr/>
        </p:nvSpPr>
        <p:spPr>
          <a:xfrm>
            <a:off x="9824812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label-27"/>
          <p:cNvSpPr txBox="1"/>
          <p:nvPr/>
        </p:nvSpPr>
        <p:spPr>
          <a:xfrm rot="3300000">
            <a:off x="947166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</a:t>
            </a:r>
          </a:p>
        </p:txBody>
      </p:sp>
      <p:sp>
        <p:nvSpPr>
          <p:cNvPr id="115" name="bar-28-0"/>
          <p:cNvSpPr/>
          <p:nvPr/>
        </p:nvSpPr>
        <p:spPr>
          <a:xfrm>
            <a:off x="10023486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bar-28-1"/>
          <p:cNvSpPr/>
          <p:nvPr/>
        </p:nvSpPr>
        <p:spPr>
          <a:xfrm>
            <a:off x="1008971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bar-28-2"/>
          <p:cNvSpPr/>
          <p:nvPr/>
        </p:nvSpPr>
        <p:spPr>
          <a:xfrm>
            <a:off x="10155935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label-28"/>
          <p:cNvSpPr txBox="1"/>
          <p:nvPr/>
        </p:nvSpPr>
        <p:spPr>
          <a:xfrm rot="3300000">
            <a:off x="980278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 ver 2</a:t>
            </a:r>
          </a:p>
        </p:txBody>
      </p:sp>
      <p:sp>
        <p:nvSpPr>
          <p:cNvPr id="119" name="bar-29-0"/>
          <p:cNvSpPr/>
          <p:nvPr/>
        </p:nvSpPr>
        <p:spPr>
          <a:xfrm>
            <a:off x="10354610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bar-29-1"/>
          <p:cNvSpPr/>
          <p:nvPr/>
        </p:nvSpPr>
        <p:spPr>
          <a:xfrm>
            <a:off x="1042083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bar-29-2"/>
          <p:cNvSpPr/>
          <p:nvPr/>
        </p:nvSpPr>
        <p:spPr>
          <a:xfrm>
            <a:off x="10487059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label-29"/>
          <p:cNvSpPr txBox="1"/>
          <p:nvPr/>
        </p:nvSpPr>
        <p:spPr>
          <a:xfrm rot="3300000">
            <a:off x="1013390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Wolf kishner reduction</a:t>
            </a:r>
          </a:p>
        </p:txBody>
      </p:sp>
      <p:sp>
        <p:nvSpPr>
          <p:cNvPr id="123" name="bar-30-0"/>
          <p:cNvSpPr/>
          <p:nvPr/>
        </p:nvSpPr>
        <p:spPr>
          <a:xfrm>
            <a:off x="10685733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bar-30-1"/>
          <p:cNvSpPr/>
          <p:nvPr/>
        </p:nvSpPr>
        <p:spPr>
          <a:xfrm>
            <a:off x="1075195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bar-30-2"/>
          <p:cNvSpPr/>
          <p:nvPr/>
        </p:nvSpPr>
        <p:spPr>
          <a:xfrm>
            <a:off x="10818183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label-30"/>
          <p:cNvSpPr txBox="1"/>
          <p:nvPr/>
        </p:nvSpPr>
        <p:spPr>
          <a:xfrm rot="3300000">
            <a:off x="1046503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Base cat ester hydrolysis</a:t>
            </a:r>
          </a:p>
        </p:txBody>
      </p:sp>
      <p:sp>
        <p:nvSpPr>
          <p:cNvPr id="127" name="bar-31-0"/>
          <p:cNvSpPr/>
          <p:nvPr/>
        </p:nvSpPr>
        <p:spPr>
          <a:xfrm>
            <a:off x="11016857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bar-31-1"/>
          <p:cNvSpPr/>
          <p:nvPr/>
        </p:nvSpPr>
        <p:spPr>
          <a:xfrm>
            <a:off x="1108308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ar-31-2"/>
          <p:cNvSpPr/>
          <p:nvPr/>
        </p:nvSpPr>
        <p:spPr>
          <a:xfrm>
            <a:off x="1114930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label-31"/>
          <p:cNvSpPr txBox="1"/>
          <p:nvPr/>
        </p:nvSpPr>
        <p:spPr>
          <a:xfrm rot="3300000">
            <a:off x="1079615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Nitrile reduction</a:t>
            </a:r>
          </a:p>
        </p:txBody>
      </p:sp>
      <p:sp>
        <p:nvSpPr>
          <p:cNvPr id="131" name="bar-32-0"/>
          <p:cNvSpPr/>
          <p:nvPr/>
        </p:nvSpPr>
        <p:spPr>
          <a:xfrm>
            <a:off x="11347981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bar-32-1"/>
          <p:cNvSpPr/>
          <p:nvPr/>
        </p:nvSpPr>
        <p:spPr>
          <a:xfrm>
            <a:off x="1141420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bar-32-2"/>
          <p:cNvSpPr/>
          <p:nvPr/>
        </p:nvSpPr>
        <p:spPr>
          <a:xfrm>
            <a:off x="11480430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label-32"/>
          <p:cNvSpPr txBox="1"/>
          <p:nvPr/>
        </p:nvSpPr>
        <p:spPr>
          <a:xfrm rot="3300000">
            <a:off x="1112727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Sulfide oxidation by peroxide</a:t>
            </a:r>
          </a:p>
        </p:txBody>
      </p:sp>
      <p:sp>
        <p:nvSpPr>
          <p:cNvPr id="135" name="legend-box-0"/>
          <p:cNvSpPr/>
          <p:nvPr/>
        </p:nvSpPr>
        <p:spPr>
          <a:xfrm>
            <a:off x="7315200" y="548640"/>
            <a:ext cx="146304" cy="146304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legend-label-0"/>
          <p:cNvSpPr txBox="1"/>
          <p:nvPr/>
        </p:nvSpPr>
        <p:spPr>
          <a:xfrm>
            <a:off x="749807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Success</a:t>
            </a:r>
          </a:p>
        </p:txBody>
      </p:sp>
      <p:sp>
        <p:nvSpPr>
          <p:cNvPr id="137" name="legend-box-1"/>
          <p:cNvSpPr/>
          <p:nvPr/>
        </p:nvSpPr>
        <p:spPr>
          <a:xfrm>
            <a:off x="8732520" y="548640"/>
            <a:ext cx="146304" cy="14630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legend-label-1"/>
          <p:cNvSpPr txBox="1"/>
          <p:nvPr/>
        </p:nvSpPr>
        <p:spPr>
          <a:xfrm>
            <a:off x="8915400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Found with other mechanisms</a:t>
            </a:r>
          </a:p>
        </p:txBody>
      </p:sp>
      <p:sp>
        <p:nvSpPr>
          <p:cNvPr id="139" name="legend-box-2"/>
          <p:cNvSpPr/>
          <p:nvPr/>
        </p:nvSpPr>
        <p:spPr>
          <a:xfrm>
            <a:off x="10149840" y="548640"/>
            <a:ext cx="146304" cy="146304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legend-label-2"/>
          <p:cNvSpPr txBox="1"/>
          <p:nvPr/>
        </p:nvSpPr>
        <p:spPr>
          <a:xfrm>
            <a:off x="1033271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Not found</a:t>
            </a:r>
          </a:p>
        </p:txBody>
      </p:sp>
      <p:sp>
        <p:nvSpPr>
          <p:cNvPr id="141" name="x-axis-title"/>
          <p:cNvSpPr txBox="1"/>
          <p:nvPr/>
        </p:nvSpPr>
        <p:spPr>
          <a:xfrm>
            <a:off x="4846320" y="6473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Reaction 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rt-title"/>
          <p:cNvSpPr txBox="1"/>
          <p:nvPr/>
        </p:nvSpPr>
        <p:spPr>
          <a:xfrm>
            <a:off x="3749039" y="182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Results of benchmarking by reaction type</a:t>
            </a:r>
          </a:p>
        </p:txBody>
      </p:sp>
      <p:sp>
        <p:nvSpPr>
          <p:cNvPr id="3" name="bar-0-0"/>
          <p:cNvSpPr/>
          <p:nvPr/>
        </p:nvSpPr>
        <p:spPr>
          <a:xfrm>
            <a:off x="752024" y="960119"/>
            <a:ext cx="66224" cy="406908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r-0-1"/>
          <p:cNvSpPr/>
          <p:nvPr/>
        </p:nvSpPr>
        <p:spPr>
          <a:xfrm>
            <a:off x="81824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r-0-2"/>
          <p:cNvSpPr/>
          <p:nvPr/>
        </p:nvSpPr>
        <p:spPr>
          <a:xfrm>
            <a:off x="884474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bel-0"/>
          <p:cNvSpPr txBox="1"/>
          <p:nvPr/>
        </p:nvSpPr>
        <p:spPr>
          <a:xfrm rot="3300000">
            <a:off x="53132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Dcc condensation</a:t>
            </a:r>
          </a:p>
        </p:txBody>
      </p:sp>
      <p:sp>
        <p:nvSpPr>
          <p:cNvPr id="7" name="bar-1-0"/>
          <p:cNvSpPr/>
          <p:nvPr/>
        </p:nvSpPr>
        <p:spPr>
          <a:xfrm>
            <a:off x="1083148" y="1485162"/>
            <a:ext cx="66224" cy="354403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r-1-1"/>
          <p:cNvSpPr/>
          <p:nvPr/>
        </p:nvSpPr>
        <p:spPr>
          <a:xfrm>
            <a:off x="114937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r-1-2"/>
          <p:cNvSpPr/>
          <p:nvPr/>
        </p:nvSpPr>
        <p:spPr>
          <a:xfrm>
            <a:off x="1215597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-1"/>
          <p:cNvSpPr txBox="1"/>
          <p:nvPr/>
        </p:nvSpPr>
        <p:spPr>
          <a:xfrm rot="3300000">
            <a:off x="86244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(thio)carbonyl or sulfonyl</a:t>
            </a:r>
          </a:p>
        </p:txBody>
      </p:sp>
      <p:sp>
        <p:nvSpPr>
          <p:cNvPr id="11" name="bar-2-0"/>
          <p:cNvSpPr/>
          <p:nvPr/>
        </p:nvSpPr>
        <p:spPr>
          <a:xfrm>
            <a:off x="1414272" y="3191550"/>
            <a:ext cx="66224" cy="1837649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-2-1"/>
          <p:cNvSpPr/>
          <p:nvPr/>
        </p:nvSpPr>
        <p:spPr>
          <a:xfrm>
            <a:off x="148049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-2-2"/>
          <p:cNvSpPr/>
          <p:nvPr/>
        </p:nvSpPr>
        <p:spPr>
          <a:xfrm>
            <a:off x="1546721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bel-2"/>
          <p:cNvSpPr txBox="1"/>
          <p:nvPr/>
        </p:nvSpPr>
        <p:spPr>
          <a:xfrm rot="3300000">
            <a:off x="119356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 alcohol(thiol)</a:t>
            </a:r>
          </a:p>
        </p:txBody>
      </p:sp>
      <p:sp>
        <p:nvSpPr>
          <p:cNvPr id="15" name="bar-3-0"/>
          <p:cNvSpPr/>
          <p:nvPr/>
        </p:nvSpPr>
        <p:spPr>
          <a:xfrm>
            <a:off x="1745395" y="3716593"/>
            <a:ext cx="66224" cy="1312606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-3-1"/>
          <p:cNvSpPr/>
          <p:nvPr/>
        </p:nvSpPr>
        <p:spPr>
          <a:xfrm>
            <a:off x="181162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-3-2"/>
          <p:cNvSpPr/>
          <p:nvPr/>
        </p:nvSpPr>
        <p:spPr>
          <a:xfrm>
            <a:off x="1877845" y="4635418"/>
            <a:ext cx="66224" cy="39378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el-3"/>
          <p:cNvSpPr txBox="1"/>
          <p:nvPr/>
        </p:nvSpPr>
        <p:spPr>
          <a:xfrm rot="3300000">
            <a:off x="152469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</a:t>
            </a:r>
          </a:p>
        </p:txBody>
      </p:sp>
      <p:sp>
        <p:nvSpPr>
          <p:cNvPr id="19" name="bar-4-0"/>
          <p:cNvSpPr/>
          <p:nvPr/>
        </p:nvSpPr>
        <p:spPr>
          <a:xfrm>
            <a:off x="2076519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-4-1"/>
          <p:cNvSpPr/>
          <p:nvPr/>
        </p:nvSpPr>
        <p:spPr>
          <a:xfrm>
            <a:off x="2142744" y="3847854"/>
            <a:ext cx="66224" cy="1181345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-4-2"/>
          <p:cNvSpPr/>
          <p:nvPr/>
        </p:nvSpPr>
        <p:spPr>
          <a:xfrm>
            <a:off x="2208968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el-4"/>
          <p:cNvSpPr txBox="1"/>
          <p:nvPr/>
        </p:nvSpPr>
        <p:spPr>
          <a:xfrm rot="3300000">
            <a:off x="185581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Boc deprotection</a:t>
            </a:r>
          </a:p>
        </p:txBody>
      </p:sp>
      <p:sp>
        <p:nvSpPr>
          <p:cNvPr id="23" name="bar-5-0"/>
          <p:cNvSpPr/>
          <p:nvPr/>
        </p:nvSpPr>
        <p:spPr>
          <a:xfrm>
            <a:off x="240764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-5-1"/>
          <p:cNvSpPr/>
          <p:nvPr/>
        </p:nvSpPr>
        <p:spPr>
          <a:xfrm>
            <a:off x="2473867" y="4241636"/>
            <a:ext cx="66224" cy="78756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-5-2"/>
          <p:cNvSpPr/>
          <p:nvPr/>
        </p:nvSpPr>
        <p:spPr>
          <a:xfrm>
            <a:off x="2540092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bel-5"/>
          <p:cNvSpPr txBox="1"/>
          <p:nvPr/>
        </p:nvSpPr>
        <p:spPr>
          <a:xfrm rot="3300000">
            <a:off x="218694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Reductive amination</a:t>
            </a:r>
          </a:p>
        </p:txBody>
      </p:sp>
      <p:sp>
        <p:nvSpPr>
          <p:cNvPr id="27" name="bar-6-0"/>
          <p:cNvSpPr/>
          <p:nvPr/>
        </p:nvSpPr>
        <p:spPr>
          <a:xfrm>
            <a:off x="2738766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-6-1"/>
          <p:cNvSpPr/>
          <p:nvPr/>
        </p:nvSpPr>
        <p:spPr>
          <a:xfrm>
            <a:off x="280499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r-6-2"/>
          <p:cNvSpPr/>
          <p:nvPr/>
        </p:nvSpPr>
        <p:spPr>
          <a:xfrm>
            <a:off x="2871216" y="4372896"/>
            <a:ext cx="66224" cy="65630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abel-6"/>
          <p:cNvSpPr txBox="1"/>
          <p:nvPr/>
        </p:nvSpPr>
        <p:spPr>
          <a:xfrm rot="3300000">
            <a:off x="251806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Snar(ortho)</a:t>
            </a:r>
          </a:p>
        </p:txBody>
      </p:sp>
      <p:sp>
        <p:nvSpPr>
          <p:cNvPr id="31" name="bar-7-0"/>
          <p:cNvSpPr/>
          <p:nvPr/>
        </p:nvSpPr>
        <p:spPr>
          <a:xfrm>
            <a:off x="3069890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ar-7-1"/>
          <p:cNvSpPr/>
          <p:nvPr/>
        </p:nvSpPr>
        <p:spPr>
          <a:xfrm>
            <a:off x="313611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ar-7-2"/>
          <p:cNvSpPr/>
          <p:nvPr/>
        </p:nvSpPr>
        <p:spPr>
          <a:xfrm>
            <a:off x="3202339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abel-7"/>
          <p:cNvSpPr txBox="1"/>
          <p:nvPr/>
        </p:nvSpPr>
        <p:spPr>
          <a:xfrm rot="3300000">
            <a:off x="284918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Alcohol attack to carbonyl or sulfonyl</a:t>
            </a:r>
          </a:p>
        </p:txBody>
      </p:sp>
      <p:sp>
        <p:nvSpPr>
          <p:cNvPr id="35" name="bar-8-0"/>
          <p:cNvSpPr/>
          <p:nvPr/>
        </p:nvSpPr>
        <p:spPr>
          <a:xfrm>
            <a:off x="3401013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-8-1"/>
          <p:cNvSpPr/>
          <p:nvPr/>
        </p:nvSpPr>
        <p:spPr>
          <a:xfrm>
            <a:off x="346723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8-2"/>
          <p:cNvSpPr/>
          <p:nvPr/>
        </p:nvSpPr>
        <p:spPr>
          <a:xfrm>
            <a:off x="3533463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abel-8"/>
          <p:cNvSpPr txBox="1"/>
          <p:nvPr/>
        </p:nvSpPr>
        <p:spPr>
          <a:xfrm rot="3300000">
            <a:off x="318031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Imine formation</a:t>
            </a:r>
          </a:p>
        </p:txBody>
      </p:sp>
      <p:sp>
        <p:nvSpPr>
          <p:cNvPr id="39" name="bar-9-0"/>
          <p:cNvSpPr/>
          <p:nvPr/>
        </p:nvSpPr>
        <p:spPr>
          <a:xfrm>
            <a:off x="3732137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9-1"/>
          <p:cNvSpPr/>
          <p:nvPr/>
        </p:nvSpPr>
        <p:spPr>
          <a:xfrm>
            <a:off x="379836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9-2"/>
          <p:cNvSpPr/>
          <p:nvPr/>
        </p:nvSpPr>
        <p:spPr>
          <a:xfrm>
            <a:off x="386458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abel-9"/>
          <p:cNvSpPr txBox="1"/>
          <p:nvPr/>
        </p:nvSpPr>
        <p:spPr>
          <a:xfrm rot="3300000">
            <a:off x="351143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Carbonyl reduction</a:t>
            </a:r>
          </a:p>
        </p:txBody>
      </p:sp>
      <p:sp>
        <p:nvSpPr>
          <p:cNvPr id="43" name="bar-10-0"/>
          <p:cNvSpPr/>
          <p:nvPr/>
        </p:nvSpPr>
        <p:spPr>
          <a:xfrm>
            <a:off x="4063261" y="4766678"/>
            <a:ext cx="66224" cy="26252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10-1"/>
          <p:cNvSpPr/>
          <p:nvPr/>
        </p:nvSpPr>
        <p:spPr>
          <a:xfrm>
            <a:off x="412948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-10-2"/>
          <p:cNvSpPr/>
          <p:nvPr/>
        </p:nvSpPr>
        <p:spPr>
          <a:xfrm>
            <a:off x="4195710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abel-10"/>
          <p:cNvSpPr txBox="1"/>
          <p:nvPr/>
        </p:nvSpPr>
        <p:spPr>
          <a:xfrm rot="3300000">
            <a:off x="384255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Ester reduction</a:t>
            </a:r>
          </a:p>
        </p:txBody>
      </p:sp>
      <p:sp>
        <p:nvSpPr>
          <p:cNvPr id="47" name="bar-11-0"/>
          <p:cNvSpPr/>
          <p:nvPr/>
        </p:nvSpPr>
        <p:spPr>
          <a:xfrm>
            <a:off x="4394384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ar-11-1"/>
          <p:cNvSpPr/>
          <p:nvPr/>
        </p:nvSpPr>
        <p:spPr>
          <a:xfrm>
            <a:off x="446060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ar-11-2"/>
          <p:cNvSpPr/>
          <p:nvPr/>
        </p:nvSpPr>
        <p:spPr>
          <a:xfrm>
            <a:off x="4526834" y="4635418"/>
            <a:ext cx="66224" cy="39378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abel-11"/>
          <p:cNvSpPr txBox="1"/>
          <p:nvPr/>
        </p:nvSpPr>
        <p:spPr>
          <a:xfrm rot="3300000">
            <a:off x="417368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Snar(para)</a:t>
            </a:r>
          </a:p>
        </p:txBody>
      </p:sp>
      <p:sp>
        <p:nvSpPr>
          <p:cNvPr id="51" name="bar-12-0"/>
          <p:cNvSpPr/>
          <p:nvPr/>
        </p:nvSpPr>
        <p:spPr>
          <a:xfrm>
            <a:off x="4725508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ar-12-1"/>
          <p:cNvSpPr/>
          <p:nvPr/>
        </p:nvSpPr>
        <p:spPr>
          <a:xfrm>
            <a:off x="479173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r-12-2"/>
          <p:cNvSpPr/>
          <p:nvPr/>
        </p:nvSpPr>
        <p:spPr>
          <a:xfrm>
            <a:off x="4857957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bel-12"/>
          <p:cNvSpPr txBox="1"/>
          <p:nvPr/>
        </p:nvSpPr>
        <p:spPr>
          <a:xfrm rot="3300000">
            <a:off x="450480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Aldol condensation</a:t>
            </a:r>
          </a:p>
        </p:txBody>
      </p:sp>
      <p:sp>
        <p:nvSpPr>
          <p:cNvPr id="55" name="bar-13-0"/>
          <p:cNvSpPr/>
          <p:nvPr/>
        </p:nvSpPr>
        <p:spPr>
          <a:xfrm>
            <a:off x="505663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r-13-1"/>
          <p:cNvSpPr/>
          <p:nvPr/>
        </p:nvSpPr>
        <p:spPr>
          <a:xfrm>
            <a:off x="512285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r-13-2"/>
          <p:cNvSpPr/>
          <p:nvPr/>
        </p:nvSpPr>
        <p:spPr>
          <a:xfrm>
            <a:off x="5189081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abel-13"/>
          <p:cNvSpPr txBox="1"/>
          <p:nvPr/>
        </p:nvSpPr>
        <p:spPr>
          <a:xfrm rot="3300000">
            <a:off x="483592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Double sn2</a:t>
            </a:r>
          </a:p>
        </p:txBody>
      </p:sp>
      <p:sp>
        <p:nvSpPr>
          <p:cNvPr id="59" name="bar-14-0"/>
          <p:cNvSpPr/>
          <p:nvPr/>
        </p:nvSpPr>
        <p:spPr>
          <a:xfrm>
            <a:off x="5387755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ar-14-1"/>
          <p:cNvSpPr/>
          <p:nvPr/>
        </p:nvSpPr>
        <p:spPr>
          <a:xfrm>
            <a:off x="545398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ar-14-2"/>
          <p:cNvSpPr/>
          <p:nvPr/>
        </p:nvSpPr>
        <p:spPr>
          <a:xfrm>
            <a:off x="5520205" y="4766678"/>
            <a:ext cx="66224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abel-14"/>
          <p:cNvSpPr txBox="1"/>
          <p:nvPr/>
        </p:nvSpPr>
        <p:spPr>
          <a:xfrm rot="3300000">
            <a:off x="516705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Staudinger</a:t>
            </a:r>
          </a:p>
        </p:txBody>
      </p:sp>
      <p:sp>
        <p:nvSpPr>
          <p:cNvPr id="63" name="bar-15-0"/>
          <p:cNvSpPr/>
          <p:nvPr/>
        </p:nvSpPr>
        <p:spPr>
          <a:xfrm>
            <a:off x="5718879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ar-15-1"/>
          <p:cNvSpPr/>
          <p:nvPr/>
        </p:nvSpPr>
        <p:spPr>
          <a:xfrm>
            <a:off x="5785104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ar-15-2"/>
          <p:cNvSpPr/>
          <p:nvPr/>
        </p:nvSpPr>
        <p:spPr>
          <a:xfrm>
            <a:off x="5851328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abel-15"/>
          <p:cNvSpPr txBox="1"/>
          <p:nvPr/>
        </p:nvSpPr>
        <p:spPr>
          <a:xfrm rot="3300000">
            <a:off x="549817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Carboxylic acid derivative hydrolysis or formation</a:t>
            </a:r>
          </a:p>
        </p:txBody>
      </p:sp>
      <p:sp>
        <p:nvSpPr>
          <p:cNvPr id="67" name="bar-16-0"/>
          <p:cNvSpPr/>
          <p:nvPr/>
        </p:nvSpPr>
        <p:spPr>
          <a:xfrm>
            <a:off x="605000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ar-16-1"/>
          <p:cNvSpPr/>
          <p:nvPr/>
        </p:nvSpPr>
        <p:spPr>
          <a:xfrm>
            <a:off x="6116227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ar-16-2"/>
          <p:cNvSpPr/>
          <p:nvPr/>
        </p:nvSpPr>
        <p:spPr>
          <a:xfrm>
            <a:off x="6182452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abel-16"/>
          <p:cNvSpPr txBox="1"/>
          <p:nvPr/>
        </p:nvSpPr>
        <p:spPr>
          <a:xfrm rot="3300000">
            <a:off x="582930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Friedel crafts acylation</a:t>
            </a:r>
          </a:p>
        </p:txBody>
      </p:sp>
      <p:sp>
        <p:nvSpPr>
          <p:cNvPr id="71" name="bar-17-0"/>
          <p:cNvSpPr/>
          <p:nvPr/>
        </p:nvSpPr>
        <p:spPr>
          <a:xfrm>
            <a:off x="6381126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ar-17-1"/>
          <p:cNvSpPr/>
          <p:nvPr/>
        </p:nvSpPr>
        <p:spPr>
          <a:xfrm>
            <a:off x="644735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ar-17-2"/>
          <p:cNvSpPr/>
          <p:nvPr/>
        </p:nvSpPr>
        <p:spPr>
          <a:xfrm>
            <a:off x="651357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abel-17"/>
          <p:cNvSpPr txBox="1"/>
          <p:nvPr/>
        </p:nvSpPr>
        <p:spPr>
          <a:xfrm rot="3300000">
            <a:off x="616042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Grignard</a:t>
            </a:r>
          </a:p>
        </p:txBody>
      </p:sp>
      <p:sp>
        <p:nvSpPr>
          <p:cNvPr id="75" name="bar-18-0"/>
          <p:cNvSpPr/>
          <p:nvPr/>
        </p:nvSpPr>
        <p:spPr>
          <a:xfrm>
            <a:off x="6712250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bar-18-1"/>
          <p:cNvSpPr/>
          <p:nvPr/>
        </p:nvSpPr>
        <p:spPr>
          <a:xfrm>
            <a:off x="677847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ar-18-2"/>
          <p:cNvSpPr/>
          <p:nvPr/>
        </p:nvSpPr>
        <p:spPr>
          <a:xfrm>
            <a:off x="6844699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abel-18"/>
          <p:cNvSpPr txBox="1"/>
          <p:nvPr/>
        </p:nvSpPr>
        <p:spPr>
          <a:xfrm rot="3300000">
            <a:off x="649154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Paal knorr pyrrole synthesis</a:t>
            </a:r>
          </a:p>
        </p:txBody>
      </p:sp>
      <p:sp>
        <p:nvSpPr>
          <p:cNvPr id="79" name="bar-19-0"/>
          <p:cNvSpPr/>
          <p:nvPr/>
        </p:nvSpPr>
        <p:spPr>
          <a:xfrm>
            <a:off x="7043373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bar-19-1"/>
          <p:cNvSpPr/>
          <p:nvPr/>
        </p:nvSpPr>
        <p:spPr>
          <a:xfrm>
            <a:off x="710959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bar-19-2"/>
          <p:cNvSpPr/>
          <p:nvPr/>
        </p:nvSpPr>
        <p:spPr>
          <a:xfrm>
            <a:off x="7175823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label-19"/>
          <p:cNvSpPr txBox="1"/>
          <p:nvPr/>
        </p:nvSpPr>
        <p:spPr>
          <a:xfrm rot="3300000">
            <a:off x="682267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iso(thio)cyanate</a:t>
            </a:r>
          </a:p>
        </p:txBody>
      </p:sp>
      <p:sp>
        <p:nvSpPr>
          <p:cNvPr id="83" name="bar-20-0"/>
          <p:cNvSpPr/>
          <p:nvPr/>
        </p:nvSpPr>
        <p:spPr>
          <a:xfrm>
            <a:off x="7374497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ar-20-1"/>
          <p:cNvSpPr/>
          <p:nvPr/>
        </p:nvSpPr>
        <p:spPr>
          <a:xfrm>
            <a:off x="744072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ar-20-2"/>
          <p:cNvSpPr/>
          <p:nvPr/>
        </p:nvSpPr>
        <p:spPr>
          <a:xfrm>
            <a:off x="750694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abel-20"/>
          <p:cNvSpPr txBox="1"/>
          <p:nvPr/>
        </p:nvSpPr>
        <p:spPr>
          <a:xfrm rot="3300000">
            <a:off x="715379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Primary amide dehydration</a:t>
            </a:r>
          </a:p>
        </p:txBody>
      </p:sp>
      <p:sp>
        <p:nvSpPr>
          <p:cNvPr id="87" name="bar-21-0"/>
          <p:cNvSpPr/>
          <p:nvPr/>
        </p:nvSpPr>
        <p:spPr>
          <a:xfrm>
            <a:off x="770562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ar-21-1"/>
          <p:cNvSpPr/>
          <p:nvPr/>
        </p:nvSpPr>
        <p:spPr>
          <a:xfrm>
            <a:off x="777184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ar-21-2"/>
          <p:cNvSpPr/>
          <p:nvPr/>
        </p:nvSpPr>
        <p:spPr>
          <a:xfrm>
            <a:off x="7838070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abel-21"/>
          <p:cNvSpPr txBox="1"/>
          <p:nvPr/>
        </p:nvSpPr>
        <p:spPr>
          <a:xfrm rot="3300000">
            <a:off x="748491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Horner wadsworth emmons</a:t>
            </a:r>
          </a:p>
        </p:txBody>
      </p:sp>
      <p:sp>
        <p:nvSpPr>
          <p:cNvPr id="91" name="bar-22-0"/>
          <p:cNvSpPr/>
          <p:nvPr/>
        </p:nvSpPr>
        <p:spPr>
          <a:xfrm>
            <a:off x="8036744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ar-22-1"/>
          <p:cNvSpPr/>
          <p:nvPr/>
        </p:nvSpPr>
        <p:spPr>
          <a:xfrm>
            <a:off x="810296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bar-22-2"/>
          <p:cNvSpPr/>
          <p:nvPr/>
        </p:nvSpPr>
        <p:spPr>
          <a:xfrm>
            <a:off x="8169194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abel-22"/>
          <p:cNvSpPr txBox="1"/>
          <p:nvPr/>
        </p:nvSpPr>
        <p:spPr>
          <a:xfrm rot="3300000">
            <a:off x="781604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Jones oxidation</a:t>
            </a:r>
          </a:p>
        </p:txBody>
      </p:sp>
      <p:sp>
        <p:nvSpPr>
          <p:cNvPr id="95" name="bar-23-0"/>
          <p:cNvSpPr/>
          <p:nvPr/>
        </p:nvSpPr>
        <p:spPr>
          <a:xfrm>
            <a:off x="8367868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bar-23-1"/>
          <p:cNvSpPr/>
          <p:nvPr/>
        </p:nvSpPr>
        <p:spPr>
          <a:xfrm>
            <a:off x="843409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bar-23-2"/>
          <p:cNvSpPr/>
          <p:nvPr/>
        </p:nvSpPr>
        <p:spPr>
          <a:xfrm>
            <a:off x="8500317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abel-23"/>
          <p:cNvSpPr txBox="1"/>
          <p:nvPr/>
        </p:nvSpPr>
        <p:spPr>
          <a:xfrm rot="3300000">
            <a:off x="814716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Markovnikov addition</a:t>
            </a:r>
          </a:p>
        </p:txBody>
      </p:sp>
      <p:sp>
        <p:nvSpPr>
          <p:cNvPr id="99" name="bar-24-0"/>
          <p:cNvSpPr/>
          <p:nvPr/>
        </p:nvSpPr>
        <p:spPr>
          <a:xfrm>
            <a:off x="869899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bar-24-1"/>
          <p:cNvSpPr/>
          <p:nvPr/>
        </p:nvSpPr>
        <p:spPr>
          <a:xfrm>
            <a:off x="876521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bar-24-2"/>
          <p:cNvSpPr/>
          <p:nvPr/>
        </p:nvSpPr>
        <p:spPr>
          <a:xfrm>
            <a:off x="8831441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label-24"/>
          <p:cNvSpPr txBox="1"/>
          <p:nvPr/>
        </p:nvSpPr>
        <p:spPr>
          <a:xfrm rot="3300000">
            <a:off x="847828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O demethylation</a:t>
            </a:r>
          </a:p>
        </p:txBody>
      </p:sp>
      <p:sp>
        <p:nvSpPr>
          <p:cNvPr id="103" name="bar-25-0"/>
          <p:cNvSpPr/>
          <p:nvPr/>
        </p:nvSpPr>
        <p:spPr>
          <a:xfrm>
            <a:off x="9030115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bar-25-1"/>
          <p:cNvSpPr/>
          <p:nvPr/>
        </p:nvSpPr>
        <p:spPr>
          <a:xfrm>
            <a:off x="909634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bar-25-2"/>
          <p:cNvSpPr/>
          <p:nvPr/>
        </p:nvSpPr>
        <p:spPr>
          <a:xfrm>
            <a:off x="9162565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abel-25"/>
          <p:cNvSpPr txBox="1"/>
          <p:nvPr/>
        </p:nvSpPr>
        <p:spPr>
          <a:xfrm rot="3300000">
            <a:off x="880941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alco(thi)ol(ortho)</a:t>
            </a:r>
          </a:p>
        </p:txBody>
      </p:sp>
      <p:sp>
        <p:nvSpPr>
          <p:cNvPr id="107" name="bar-26-0"/>
          <p:cNvSpPr/>
          <p:nvPr/>
        </p:nvSpPr>
        <p:spPr>
          <a:xfrm>
            <a:off x="9361239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bar-26-1"/>
          <p:cNvSpPr/>
          <p:nvPr/>
        </p:nvSpPr>
        <p:spPr>
          <a:xfrm>
            <a:off x="942746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bar-26-2"/>
          <p:cNvSpPr/>
          <p:nvPr/>
        </p:nvSpPr>
        <p:spPr>
          <a:xfrm>
            <a:off x="9493688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label-26"/>
          <p:cNvSpPr txBox="1"/>
          <p:nvPr/>
        </p:nvSpPr>
        <p:spPr>
          <a:xfrm rot="3300000">
            <a:off x="914053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alco(thi)ol(para)</a:t>
            </a:r>
          </a:p>
        </p:txBody>
      </p:sp>
      <p:sp>
        <p:nvSpPr>
          <p:cNvPr id="111" name="bar-27-0"/>
          <p:cNvSpPr/>
          <p:nvPr/>
        </p:nvSpPr>
        <p:spPr>
          <a:xfrm>
            <a:off x="9692362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bar-27-1"/>
          <p:cNvSpPr/>
          <p:nvPr/>
        </p:nvSpPr>
        <p:spPr>
          <a:xfrm>
            <a:off x="9758587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bar-27-2"/>
          <p:cNvSpPr/>
          <p:nvPr/>
        </p:nvSpPr>
        <p:spPr>
          <a:xfrm>
            <a:off x="9824812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label-27"/>
          <p:cNvSpPr txBox="1"/>
          <p:nvPr/>
        </p:nvSpPr>
        <p:spPr>
          <a:xfrm rot="3300000">
            <a:off x="947166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</a:t>
            </a:r>
          </a:p>
        </p:txBody>
      </p:sp>
      <p:sp>
        <p:nvSpPr>
          <p:cNvPr id="115" name="bar-28-0"/>
          <p:cNvSpPr/>
          <p:nvPr/>
        </p:nvSpPr>
        <p:spPr>
          <a:xfrm>
            <a:off x="10023486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bar-28-1"/>
          <p:cNvSpPr/>
          <p:nvPr/>
        </p:nvSpPr>
        <p:spPr>
          <a:xfrm>
            <a:off x="1008971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bar-28-2"/>
          <p:cNvSpPr/>
          <p:nvPr/>
        </p:nvSpPr>
        <p:spPr>
          <a:xfrm>
            <a:off x="10155935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label-28"/>
          <p:cNvSpPr txBox="1"/>
          <p:nvPr/>
        </p:nvSpPr>
        <p:spPr>
          <a:xfrm rot="3300000">
            <a:off x="980278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 ver 2</a:t>
            </a:r>
          </a:p>
        </p:txBody>
      </p:sp>
      <p:sp>
        <p:nvSpPr>
          <p:cNvPr id="119" name="bar-29-0"/>
          <p:cNvSpPr/>
          <p:nvPr/>
        </p:nvSpPr>
        <p:spPr>
          <a:xfrm>
            <a:off x="10354610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bar-29-1"/>
          <p:cNvSpPr/>
          <p:nvPr/>
        </p:nvSpPr>
        <p:spPr>
          <a:xfrm>
            <a:off x="1042083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bar-29-2"/>
          <p:cNvSpPr/>
          <p:nvPr/>
        </p:nvSpPr>
        <p:spPr>
          <a:xfrm>
            <a:off x="10487059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label-29"/>
          <p:cNvSpPr txBox="1"/>
          <p:nvPr/>
        </p:nvSpPr>
        <p:spPr>
          <a:xfrm rot="3300000">
            <a:off x="1013390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Wolf kishner reduction</a:t>
            </a:r>
          </a:p>
        </p:txBody>
      </p:sp>
      <p:sp>
        <p:nvSpPr>
          <p:cNvPr id="123" name="bar-30-0"/>
          <p:cNvSpPr/>
          <p:nvPr/>
        </p:nvSpPr>
        <p:spPr>
          <a:xfrm>
            <a:off x="10685733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bar-30-1"/>
          <p:cNvSpPr/>
          <p:nvPr/>
        </p:nvSpPr>
        <p:spPr>
          <a:xfrm>
            <a:off x="1075195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bar-30-2"/>
          <p:cNvSpPr/>
          <p:nvPr/>
        </p:nvSpPr>
        <p:spPr>
          <a:xfrm>
            <a:off x="10818183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label-30"/>
          <p:cNvSpPr txBox="1"/>
          <p:nvPr/>
        </p:nvSpPr>
        <p:spPr>
          <a:xfrm rot="3300000">
            <a:off x="1046503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Base cat ester hydrolysis</a:t>
            </a:r>
          </a:p>
        </p:txBody>
      </p:sp>
      <p:sp>
        <p:nvSpPr>
          <p:cNvPr id="127" name="bar-31-0"/>
          <p:cNvSpPr/>
          <p:nvPr/>
        </p:nvSpPr>
        <p:spPr>
          <a:xfrm>
            <a:off x="11016857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bar-31-1"/>
          <p:cNvSpPr/>
          <p:nvPr/>
        </p:nvSpPr>
        <p:spPr>
          <a:xfrm>
            <a:off x="1108308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ar-31-2"/>
          <p:cNvSpPr/>
          <p:nvPr/>
        </p:nvSpPr>
        <p:spPr>
          <a:xfrm>
            <a:off x="11149306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label-31"/>
          <p:cNvSpPr txBox="1"/>
          <p:nvPr/>
        </p:nvSpPr>
        <p:spPr>
          <a:xfrm rot="3300000">
            <a:off x="1079615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Nitrile reduction</a:t>
            </a:r>
          </a:p>
        </p:txBody>
      </p:sp>
      <p:sp>
        <p:nvSpPr>
          <p:cNvPr id="131" name="bar-32-0"/>
          <p:cNvSpPr/>
          <p:nvPr/>
        </p:nvSpPr>
        <p:spPr>
          <a:xfrm>
            <a:off x="1134798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bar-32-1"/>
          <p:cNvSpPr/>
          <p:nvPr/>
        </p:nvSpPr>
        <p:spPr>
          <a:xfrm>
            <a:off x="1141420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bar-32-2"/>
          <p:cNvSpPr/>
          <p:nvPr/>
        </p:nvSpPr>
        <p:spPr>
          <a:xfrm>
            <a:off x="11480430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label-32"/>
          <p:cNvSpPr txBox="1"/>
          <p:nvPr/>
        </p:nvSpPr>
        <p:spPr>
          <a:xfrm rot="3300000">
            <a:off x="1112727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Sulfide oxidation by peroxide</a:t>
            </a:r>
          </a:p>
        </p:txBody>
      </p:sp>
      <p:sp>
        <p:nvSpPr>
          <p:cNvPr id="135" name="legend-box-0"/>
          <p:cNvSpPr/>
          <p:nvPr/>
        </p:nvSpPr>
        <p:spPr>
          <a:xfrm>
            <a:off x="7315200" y="548640"/>
            <a:ext cx="146304" cy="146304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legend-label-0"/>
          <p:cNvSpPr txBox="1"/>
          <p:nvPr/>
        </p:nvSpPr>
        <p:spPr>
          <a:xfrm>
            <a:off x="749807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Success</a:t>
            </a:r>
          </a:p>
        </p:txBody>
      </p:sp>
      <p:sp>
        <p:nvSpPr>
          <p:cNvPr id="137" name="legend-box-1"/>
          <p:cNvSpPr/>
          <p:nvPr/>
        </p:nvSpPr>
        <p:spPr>
          <a:xfrm>
            <a:off x="8732520" y="548640"/>
            <a:ext cx="146304" cy="14630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legend-label-1"/>
          <p:cNvSpPr txBox="1"/>
          <p:nvPr/>
        </p:nvSpPr>
        <p:spPr>
          <a:xfrm>
            <a:off x="8915400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Found with other mechanisms</a:t>
            </a:r>
          </a:p>
        </p:txBody>
      </p:sp>
      <p:sp>
        <p:nvSpPr>
          <p:cNvPr id="139" name="legend-box-2"/>
          <p:cNvSpPr/>
          <p:nvPr/>
        </p:nvSpPr>
        <p:spPr>
          <a:xfrm>
            <a:off x="10149840" y="548640"/>
            <a:ext cx="146304" cy="146304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legend-label-2"/>
          <p:cNvSpPr txBox="1"/>
          <p:nvPr/>
        </p:nvSpPr>
        <p:spPr>
          <a:xfrm>
            <a:off x="1033271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Not found</a:t>
            </a:r>
          </a:p>
        </p:txBody>
      </p:sp>
      <p:sp>
        <p:nvSpPr>
          <p:cNvPr id="141" name="x-axis-title"/>
          <p:cNvSpPr txBox="1"/>
          <p:nvPr/>
        </p:nvSpPr>
        <p:spPr>
          <a:xfrm>
            <a:off x="4846320" y="6473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Reaction Type</a:t>
            </a:r>
          </a:p>
        </p:txBody>
      </p:sp>
    </p:spTree>
  </p:cSld>
  <p:transition spd="slow">
    <p:morp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rt-title"/>
          <p:cNvSpPr txBox="1"/>
          <p:nvPr/>
        </p:nvSpPr>
        <p:spPr>
          <a:xfrm>
            <a:off x="3749039" y="182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Results of benchmarking by reaction type</a:t>
            </a:r>
          </a:p>
        </p:txBody>
      </p:sp>
      <p:sp>
        <p:nvSpPr>
          <p:cNvPr id="3" name="bar-0-0"/>
          <p:cNvSpPr/>
          <p:nvPr/>
        </p:nvSpPr>
        <p:spPr>
          <a:xfrm>
            <a:off x="775203" y="960119"/>
            <a:ext cx="152316" cy="406908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r-0-1"/>
          <p:cNvSpPr/>
          <p:nvPr/>
        </p:nvSpPr>
        <p:spPr>
          <a:xfrm>
            <a:off x="775203" y="96011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r-0-2"/>
          <p:cNvSpPr/>
          <p:nvPr/>
        </p:nvSpPr>
        <p:spPr>
          <a:xfrm>
            <a:off x="775203" y="96011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bel-0"/>
          <p:cNvSpPr txBox="1"/>
          <p:nvPr/>
        </p:nvSpPr>
        <p:spPr>
          <a:xfrm rot="3300000">
            <a:off x="53132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Dcc condensation</a:t>
            </a:r>
          </a:p>
        </p:txBody>
      </p:sp>
      <p:sp>
        <p:nvSpPr>
          <p:cNvPr id="7" name="bar-1-0"/>
          <p:cNvSpPr/>
          <p:nvPr/>
        </p:nvSpPr>
        <p:spPr>
          <a:xfrm>
            <a:off x="1106327" y="1485162"/>
            <a:ext cx="152316" cy="354403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r-1-1"/>
          <p:cNvSpPr/>
          <p:nvPr/>
        </p:nvSpPr>
        <p:spPr>
          <a:xfrm>
            <a:off x="1106327" y="1485162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r-1-2"/>
          <p:cNvSpPr/>
          <p:nvPr/>
        </p:nvSpPr>
        <p:spPr>
          <a:xfrm>
            <a:off x="1106327" y="1485162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-1"/>
          <p:cNvSpPr txBox="1"/>
          <p:nvPr/>
        </p:nvSpPr>
        <p:spPr>
          <a:xfrm rot="3300000">
            <a:off x="86244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(thio)carbonyl or sulfonyl</a:t>
            </a:r>
          </a:p>
        </p:txBody>
      </p:sp>
      <p:sp>
        <p:nvSpPr>
          <p:cNvPr id="11" name="bar-2-0"/>
          <p:cNvSpPr/>
          <p:nvPr/>
        </p:nvSpPr>
        <p:spPr>
          <a:xfrm>
            <a:off x="1437450" y="3191550"/>
            <a:ext cx="152316" cy="1837649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-2-1"/>
          <p:cNvSpPr/>
          <p:nvPr/>
        </p:nvSpPr>
        <p:spPr>
          <a:xfrm>
            <a:off x="1437450" y="319155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-2-2"/>
          <p:cNvSpPr/>
          <p:nvPr/>
        </p:nvSpPr>
        <p:spPr>
          <a:xfrm>
            <a:off x="1437450" y="3191550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bel-2"/>
          <p:cNvSpPr txBox="1"/>
          <p:nvPr/>
        </p:nvSpPr>
        <p:spPr>
          <a:xfrm rot="3300000">
            <a:off x="119356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 alcohol(thiol)</a:t>
            </a:r>
          </a:p>
        </p:txBody>
      </p:sp>
      <p:sp>
        <p:nvSpPr>
          <p:cNvPr id="15" name="bar-3-0"/>
          <p:cNvSpPr/>
          <p:nvPr/>
        </p:nvSpPr>
        <p:spPr>
          <a:xfrm>
            <a:off x="1768574" y="3454072"/>
            <a:ext cx="152316" cy="157512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-3-1"/>
          <p:cNvSpPr/>
          <p:nvPr/>
        </p:nvSpPr>
        <p:spPr>
          <a:xfrm>
            <a:off x="1768574" y="3454072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-3-2"/>
          <p:cNvSpPr/>
          <p:nvPr/>
        </p:nvSpPr>
        <p:spPr>
          <a:xfrm>
            <a:off x="1768574" y="3322811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el-3"/>
          <p:cNvSpPr txBox="1"/>
          <p:nvPr/>
        </p:nvSpPr>
        <p:spPr>
          <a:xfrm rot="3300000">
            <a:off x="152469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</a:t>
            </a:r>
          </a:p>
        </p:txBody>
      </p:sp>
      <p:sp>
        <p:nvSpPr>
          <p:cNvPr id="19" name="bar-4-0"/>
          <p:cNvSpPr/>
          <p:nvPr/>
        </p:nvSpPr>
        <p:spPr>
          <a:xfrm>
            <a:off x="2099697" y="3847854"/>
            <a:ext cx="152316" cy="1181345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-4-1"/>
          <p:cNvSpPr/>
          <p:nvPr/>
        </p:nvSpPr>
        <p:spPr>
          <a:xfrm>
            <a:off x="2099697" y="3716593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-4-2"/>
          <p:cNvSpPr/>
          <p:nvPr/>
        </p:nvSpPr>
        <p:spPr>
          <a:xfrm>
            <a:off x="2099697" y="3716593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el-4"/>
          <p:cNvSpPr txBox="1"/>
          <p:nvPr/>
        </p:nvSpPr>
        <p:spPr>
          <a:xfrm rot="3300000">
            <a:off x="185581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Boc deprotection</a:t>
            </a:r>
          </a:p>
        </p:txBody>
      </p:sp>
      <p:sp>
        <p:nvSpPr>
          <p:cNvPr id="23" name="bar-5-0"/>
          <p:cNvSpPr/>
          <p:nvPr/>
        </p:nvSpPr>
        <p:spPr>
          <a:xfrm>
            <a:off x="2430821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-5-1"/>
          <p:cNvSpPr/>
          <p:nvPr/>
        </p:nvSpPr>
        <p:spPr>
          <a:xfrm>
            <a:off x="2430821" y="4110375"/>
            <a:ext cx="152316" cy="91882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-5-2"/>
          <p:cNvSpPr/>
          <p:nvPr/>
        </p:nvSpPr>
        <p:spPr>
          <a:xfrm>
            <a:off x="2430821" y="4110375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bel-5"/>
          <p:cNvSpPr txBox="1"/>
          <p:nvPr/>
        </p:nvSpPr>
        <p:spPr>
          <a:xfrm rot="3300000">
            <a:off x="218694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Reductive amination</a:t>
            </a:r>
          </a:p>
        </p:txBody>
      </p:sp>
      <p:sp>
        <p:nvSpPr>
          <p:cNvPr id="27" name="bar-6-0"/>
          <p:cNvSpPr/>
          <p:nvPr/>
        </p:nvSpPr>
        <p:spPr>
          <a:xfrm>
            <a:off x="2761945" y="4372896"/>
            <a:ext cx="152316" cy="65630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-6-1"/>
          <p:cNvSpPr/>
          <p:nvPr/>
        </p:nvSpPr>
        <p:spPr>
          <a:xfrm>
            <a:off x="2761945" y="4372896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r-6-2"/>
          <p:cNvSpPr/>
          <p:nvPr/>
        </p:nvSpPr>
        <p:spPr>
          <a:xfrm>
            <a:off x="2761945" y="4241636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abel-6"/>
          <p:cNvSpPr txBox="1"/>
          <p:nvPr/>
        </p:nvSpPr>
        <p:spPr>
          <a:xfrm rot="3300000">
            <a:off x="251806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Snar(ortho)</a:t>
            </a:r>
          </a:p>
        </p:txBody>
      </p:sp>
      <p:sp>
        <p:nvSpPr>
          <p:cNvPr id="31" name="bar-7-0"/>
          <p:cNvSpPr/>
          <p:nvPr/>
        </p:nvSpPr>
        <p:spPr>
          <a:xfrm>
            <a:off x="3093068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ar-7-1"/>
          <p:cNvSpPr/>
          <p:nvPr/>
        </p:nvSpPr>
        <p:spPr>
          <a:xfrm>
            <a:off x="3093068" y="4504157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ar-7-2"/>
          <p:cNvSpPr/>
          <p:nvPr/>
        </p:nvSpPr>
        <p:spPr>
          <a:xfrm>
            <a:off x="3093068" y="4504157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abel-7"/>
          <p:cNvSpPr txBox="1"/>
          <p:nvPr/>
        </p:nvSpPr>
        <p:spPr>
          <a:xfrm rot="3300000">
            <a:off x="284918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Alcohol attack to carbonyl or sulfonyl</a:t>
            </a:r>
          </a:p>
        </p:txBody>
      </p:sp>
      <p:sp>
        <p:nvSpPr>
          <p:cNvPr id="35" name="bar-8-0"/>
          <p:cNvSpPr/>
          <p:nvPr/>
        </p:nvSpPr>
        <p:spPr>
          <a:xfrm>
            <a:off x="3424192" y="4504157"/>
            <a:ext cx="152316" cy="525042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-8-1"/>
          <p:cNvSpPr/>
          <p:nvPr/>
        </p:nvSpPr>
        <p:spPr>
          <a:xfrm>
            <a:off x="3424192" y="4504157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8-2"/>
          <p:cNvSpPr/>
          <p:nvPr/>
        </p:nvSpPr>
        <p:spPr>
          <a:xfrm>
            <a:off x="3424192" y="4504157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abel-8"/>
          <p:cNvSpPr txBox="1"/>
          <p:nvPr/>
        </p:nvSpPr>
        <p:spPr>
          <a:xfrm rot="3300000">
            <a:off x="318031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Imine formation</a:t>
            </a:r>
          </a:p>
        </p:txBody>
      </p:sp>
      <p:sp>
        <p:nvSpPr>
          <p:cNvPr id="39" name="bar-9-0"/>
          <p:cNvSpPr/>
          <p:nvPr/>
        </p:nvSpPr>
        <p:spPr>
          <a:xfrm>
            <a:off x="3755316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9-1"/>
          <p:cNvSpPr/>
          <p:nvPr/>
        </p:nvSpPr>
        <p:spPr>
          <a:xfrm>
            <a:off x="3755316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9-2"/>
          <p:cNvSpPr/>
          <p:nvPr/>
        </p:nvSpPr>
        <p:spPr>
          <a:xfrm>
            <a:off x="3755316" y="463541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abel-9"/>
          <p:cNvSpPr txBox="1"/>
          <p:nvPr/>
        </p:nvSpPr>
        <p:spPr>
          <a:xfrm rot="3300000">
            <a:off x="351143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Carbonyl reduction</a:t>
            </a:r>
          </a:p>
        </p:txBody>
      </p:sp>
      <p:sp>
        <p:nvSpPr>
          <p:cNvPr id="43" name="bar-10-0"/>
          <p:cNvSpPr/>
          <p:nvPr/>
        </p:nvSpPr>
        <p:spPr>
          <a:xfrm>
            <a:off x="4086439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10-1"/>
          <p:cNvSpPr/>
          <p:nvPr/>
        </p:nvSpPr>
        <p:spPr>
          <a:xfrm>
            <a:off x="4086439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-10-2"/>
          <p:cNvSpPr/>
          <p:nvPr/>
        </p:nvSpPr>
        <p:spPr>
          <a:xfrm>
            <a:off x="4086439" y="463541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abel-10"/>
          <p:cNvSpPr txBox="1"/>
          <p:nvPr/>
        </p:nvSpPr>
        <p:spPr>
          <a:xfrm rot="3300000">
            <a:off x="384255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Ester reduction</a:t>
            </a:r>
          </a:p>
        </p:txBody>
      </p:sp>
      <p:sp>
        <p:nvSpPr>
          <p:cNvPr id="47" name="bar-11-0"/>
          <p:cNvSpPr/>
          <p:nvPr/>
        </p:nvSpPr>
        <p:spPr>
          <a:xfrm>
            <a:off x="4417563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ar-11-1"/>
          <p:cNvSpPr/>
          <p:nvPr/>
        </p:nvSpPr>
        <p:spPr>
          <a:xfrm>
            <a:off x="4417563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ar-11-2"/>
          <p:cNvSpPr/>
          <p:nvPr/>
        </p:nvSpPr>
        <p:spPr>
          <a:xfrm>
            <a:off x="4417563" y="4635418"/>
            <a:ext cx="152316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abel-11"/>
          <p:cNvSpPr txBox="1"/>
          <p:nvPr/>
        </p:nvSpPr>
        <p:spPr>
          <a:xfrm rot="3300000">
            <a:off x="417368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Snar(para)</a:t>
            </a:r>
          </a:p>
        </p:txBody>
      </p:sp>
      <p:sp>
        <p:nvSpPr>
          <p:cNvPr id="51" name="bar-12-0"/>
          <p:cNvSpPr/>
          <p:nvPr/>
        </p:nvSpPr>
        <p:spPr>
          <a:xfrm>
            <a:off x="4748687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ar-12-1"/>
          <p:cNvSpPr/>
          <p:nvPr/>
        </p:nvSpPr>
        <p:spPr>
          <a:xfrm>
            <a:off x="4748687" y="4766678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r-12-2"/>
          <p:cNvSpPr/>
          <p:nvPr/>
        </p:nvSpPr>
        <p:spPr>
          <a:xfrm>
            <a:off x="4748687" y="476667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bel-12"/>
          <p:cNvSpPr txBox="1"/>
          <p:nvPr/>
        </p:nvSpPr>
        <p:spPr>
          <a:xfrm rot="3300000">
            <a:off x="450480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Aldol condensation</a:t>
            </a:r>
          </a:p>
        </p:txBody>
      </p:sp>
      <p:sp>
        <p:nvSpPr>
          <p:cNvPr id="55" name="bar-13-0"/>
          <p:cNvSpPr/>
          <p:nvPr/>
        </p:nvSpPr>
        <p:spPr>
          <a:xfrm>
            <a:off x="5079810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r-13-1"/>
          <p:cNvSpPr/>
          <p:nvPr/>
        </p:nvSpPr>
        <p:spPr>
          <a:xfrm>
            <a:off x="5079810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r-13-2"/>
          <p:cNvSpPr/>
          <p:nvPr/>
        </p:nvSpPr>
        <p:spPr>
          <a:xfrm>
            <a:off x="5079810" y="476667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abel-13"/>
          <p:cNvSpPr txBox="1"/>
          <p:nvPr/>
        </p:nvSpPr>
        <p:spPr>
          <a:xfrm rot="3300000">
            <a:off x="483592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Double sn2</a:t>
            </a:r>
          </a:p>
        </p:txBody>
      </p:sp>
      <p:sp>
        <p:nvSpPr>
          <p:cNvPr id="59" name="bar-14-0"/>
          <p:cNvSpPr/>
          <p:nvPr/>
        </p:nvSpPr>
        <p:spPr>
          <a:xfrm>
            <a:off x="5410934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ar-14-1"/>
          <p:cNvSpPr/>
          <p:nvPr/>
        </p:nvSpPr>
        <p:spPr>
          <a:xfrm>
            <a:off x="5410934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ar-14-2"/>
          <p:cNvSpPr/>
          <p:nvPr/>
        </p:nvSpPr>
        <p:spPr>
          <a:xfrm>
            <a:off x="5410934" y="4766678"/>
            <a:ext cx="152316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abel-14"/>
          <p:cNvSpPr txBox="1"/>
          <p:nvPr/>
        </p:nvSpPr>
        <p:spPr>
          <a:xfrm rot="3300000">
            <a:off x="516705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Staudinger</a:t>
            </a:r>
          </a:p>
        </p:txBody>
      </p:sp>
      <p:sp>
        <p:nvSpPr>
          <p:cNvPr id="63" name="bar-15-0"/>
          <p:cNvSpPr/>
          <p:nvPr/>
        </p:nvSpPr>
        <p:spPr>
          <a:xfrm>
            <a:off x="5742057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ar-15-1"/>
          <p:cNvSpPr/>
          <p:nvPr/>
        </p:nvSpPr>
        <p:spPr>
          <a:xfrm>
            <a:off x="5742057" y="4766678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ar-15-2"/>
          <p:cNvSpPr/>
          <p:nvPr/>
        </p:nvSpPr>
        <p:spPr>
          <a:xfrm>
            <a:off x="5742057" y="476667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abel-15"/>
          <p:cNvSpPr txBox="1"/>
          <p:nvPr/>
        </p:nvSpPr>
        <p:spPr>
          <a:xfrm rot="3300000">
            <a:off x="549817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Carboxylic acid derivative hydrolysis or formation</a:t>
            </a:r>
          </a:p>
        </p:txBody>
      </p:sp>
      <p:sp>
        <p:nvSpPr>
          <p:cNvPr id="67" name="bar-16-0"/>
          <p:cNvSpPr/>
          <p:nvPr/>
        </p:nvSpPr>
        <p:spPr>
          <a:xfrm>
            <a:off x="6073181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ar-16-1"/>
          <p:cNvSpPr/>
          <p:nvPr/>
        </p:nvSpPr>
        <p:spPr>
          <a:xfrm>
            <a:off x="6073181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ar-16-2"/>
          <p:cNvSpPr/>
          <p:nvPr/>
        </p:nvSpPr>
        <p:spPr>
          <a:xfrm>
            <a:off x="6073181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abel-16"/>
          <p:cNvSpPr txBox="1"/>
          <p:nvPr/>
        </p:nvSpPr>
        <p:spPr>
          <a:xfrm rot="3300000">
            <a:off x="582930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Friedel crafts acylation</a:t>
            </a:r>
          </a:p>
        </p:txBody>
      </p:sp>
      <p:sp>
        <p:nvSpPr>
          <p:cNvPr id="71" name="bar-17-0"/>
          <p:cNvSpPr/>
          <p:nvPr/>
        </p:nvSpPr>
        <p:spPr>
          <a:xfrm>
            <a:off x="6404305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ar-17-1"/>
          <p:cNvSpPr/>
          <p:nvPr/>
        </p:nvSpPr>
        <p:spPr>
          <a:xfrm>
            <a:off x="6404305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ar-17-2"/>
          <p:cNvSpPr/>
          <p:nvPr/>
        </p:nvSpPr>
        <p:spPr>
          <a:xfrm>
            <a:off x="6404305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abel-17"/>
          <p:cNvSpPr txBox="1"/>
          <p:nvPr/>
        </p:nvSpPr>
        <p:spPr>
          <a:xfrm rot="3300000">
            <a:off x="616042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Grignard</a:t>
            </a:r>
          </a:p>
        </p:txBody>
      </p:sp>
      <p:sp>
        <p:nvSpPr>
          <p:cNvPr id="75" name="bar-18-0"/>
          <p:cNvSpPr/>
          <p:nvPr/>
        </p:nvSpPr>
        <p:spPr>
          <a:xfrm>
            <a:off x="6735428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bar-18-1"/>
          <p:cNvSpPr/>
          <p:nvPr/>
        </p:nvSpPr>
        <p:spPr>
          <a:xfrm>
            <a:off x="6735428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ar-18-2"/>
          <p:cNvSpPr/>
          <p:nvPr/>
        </p:nvSpPr>
        <p:spPr>
          <a:xfrm>
            <a:off x="6735428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abel-18"/>
          <p:cNvSpPr txBox="1"/>
          <p:nvPr/>
        </p:nvSpPr>
        <p:spPr>
          <a:xfrm rot="3300000">
            <a:off x="649154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Paal knorr pyrrole synthesis</a:t>
            </a:r>
          </a:p>
        </p:txBody>
      </p:sp>
      <p:sp>
        <p:nvSpPr>
          <p:cNvPr id="79" name="bar-19-0"/>
          <p:cNvSpPr/>
          <p:nvPr/>
        </p:nvSpPr>
        <p:spPr>
          <a:xfrm>
            <a:off x="7066552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bar-19-1"/>
          <p:cNvSpPr/>
          <p:nvPr/>
        </p:nvSpPr>
        <p:spPr>
          <a:xfrm>
            <a:off x="7066552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bar-19-2"/>
          <p:cNvSpPr/>
          <p:nvPr/>
        </p:nvSpPr>
        <p:spPr>
          <a:xfrm>
            <a:off x="7066552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label-19"/>
          <p:cNvSpPr txBox="1"/>
          <p:nvPr/>
        </p:nvSpPr>
        <p:spPr>
          <a:xfrm rot="3300000">
            <a:off x="682267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iso(thio)cyanate</a:t>
            </a:r>
          </a:p>
        </p:txBody>
      </p:sp>
      <p:sp>
        <p:nvSpPr>
          <p:cNvPr id="83" name="bar-20-0"/>
          <p:cNvSpPr/>
          <p:nvPr/>
        </p:nvSpPr>
        <p:spPr>
          <a:xfrm>
            <a:off x="7397676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ar-20-1"/>
          <p:cNvSpPr/>
          <p:nvPr/>
        </p:nvSpPr>
        <p:spPr>
          <a:xfrm>
            <a:off x="7397676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ar-20-2"/>
          <p:cNvSpPr/>
          <p:nvPr/>
        </p:nvSpPr>
        <p:spPr>
          <a:xfrm>
            <a:off x="7397676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abel-20"/>
          <p:cNvSpPr txBox="1"/>
          <p:nvPr/>
        </p:nvSpPr>
        <p:spPr>
          <a:xfrm rot="3300000">
            <a:off x="715379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Primary amide dehydration</a:t>
            </a:r>
          </a:p>
        </p:txBody>
      </p:sp>
      <p:sp>
        <p:nvSpPr>
          <p:cNvPr id="87" name="bar-21-0"/>
          <p:cNvSpPr/>
          <p:nvPr/>
        </p:nvSpPr>
        <p:spPr>
          <a:xfrm>
            <a:off x="7728799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ar-21-1"/>
          <p:cNvSpPr/>
          <p:nvPr/>
        </p:nvSpPr>
        <p:spPr>
          <a:xfrm>
            <a:off x="7728799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ar-21-2"/>
          <p:cNvSpPr/>
          <p:nvPr/>
        </p:nvSpPr>
        <p:spPr>
          <a:xfrm>
            <a:off x="7728799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abel-21"/>
          <p:cNvSpPr txBox="1"/>
          <p:nvPr/>
        </p:nvSpPr>
        <p:spPr>
          <a:xfrm rot="3300000">
            <a:off x="748491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Horner wadsworth emmons</a:t>
            </a:r>
          </a:p>
        </p:txBody>
      </p:sp>
      <p:sp>
        <p:nvSpPr>
          <p:cNvPr id="91" name="bar-22-0"/>
          <p:cNvSpPr/>
          <p:nvPr/>
        </p:nvSpPr>
        <p:spPr>
          <a:xfrm>
            <a:off x="8059923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ar-22-1"/>
          <p:cNvSpPr/>
          <p:nvPr/>
        </p:nvSpPr>
        <p:spPr>
          <a:xfrm>
            <a:off x="8059923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bar-22-2"/>
          <p:cNvSpPr/>
          <p:nvPr/>
        </p:nvSpPr>
        <p:spPr>
          <a:xfrm>
            <a:off x="8059923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abel-22"/>
          <p:cNvSpPr txBox="1"/>
          <p:nvPr/>
        </p:nvSpPr>
        <p:spPr>
          <a:xfrm rot="3300000">
            <a:off x="781604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Jones oxidation</a:t>
            </a:r>
          </a:p>
        </p:txBody>
      </p:sp>
      <p:sp>
        <p:nvSpPr>
          <p:cNvPr id="95" name="bar-23-0"/>
          <p:cNvSpPr/>
          <p:nvPr/>
        </p:nvSpPr>
        <p:spPr>
          <a:xfrm>
            <a:off x="839104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bar-23-1"/>
          <p:cNvSpPr/>
          <p:nvPr/>
        </p:nvSpPr>
        <p:spPr>
          <a:xfrm>
            <a:off x="8391047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bar-23-2"/>
          <p:cNvSpPr/>
          <p:nvPr/>
        </p:nvSpPr>
        <p:spPr>
          <a:xfrm>
            <a:off x="8391047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abel-23"/>
          <p:cNvSpPr txBox="1"/>
          <p:nvPr/>
        </p:nvSpPr>
        <p:spPr>
          <a:xfrm rot="3300000">
            <a:off x="814716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Markovnikov addition</a:t>
            </a:r>
          </a:p>
        </p:txBody>
      </p:sp>
      <p:sp>
        <p:nvSpPr>
          <p:cNvPr id="99" name="bar-24-0"/>
          <p:cNvSpPr/>
          <p:nvPr/>
        </p:nvSpPr>
        <p:spPr>
          <a:xfrm>
            <a:off x="8722170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bar-24-1"/>
          <p:cNvSpPr/>
          <p:nvPr/>
        </p:nvSpPr>
        <p:spPr>
          <a:xfrm>
            <a:off x="8722170" y="4897939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bar-24-2"/>
          <p:cNvSpPr/>
          <p:nvPr/>
        </p:nvSpPr>
        <p:spPr>
          <a:xfrm>
            <a:off x="8722170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label-24"/>
          <p:cNvSpPr txBox="1"/>
          <p:nvPr/>
        </p:nvSpPr>
        <p:spPr>
          <a:xfrm rot="3300000">
            <a:off x="847828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O demethylation</a:t>
            </a:r>
          </a:p>
        </p:txBody>
      </p:sp>
      <p:sp>
        <p:nvSpPr>
          <p:cNvPr id="103" name="bar-25-0"/>
          <p:cNvSpPr/>
          <p:nvPr/>
        </p:nvSpPr>
        <p:spPr>
          <a:xfrm>
            <a:off x="9053294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bar-25-1"/>
          <p:cNvSpPr/>
          <p:nvPr/>
        </p:nvSpPr>
        <p:spPr>
          <a:xfrm>
            <a:off x="9053294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bar-25-2"/>
          <p:cNvSpPr/>
          <p:nvPr/>
        </p:nvSpPr>
        <p:spPr>
          <a:xfrm>
            <a:off x="9053294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abel-25"/>
          <p:cNvSpPr txBox="1"/>
          <p:nvPr/>
        </p:nvSpPr>
        <p:spPr>
          <a:xfrm rot="3300000">
            <a:off x="880941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alco(thi)ol(ortho)</a:t>
            </a:r>
          </a:p>
        </p:txBody>
      </p:sp>
      <p:sp>
        <p:nvSpPr>
          <p:cNvPr id="107" name="bar-26-0"/>
          <p:cNvSpPr/>
          <p:nvPr/>
        </p:nvSpPr>
        <p:spPr>
          <a:xfrm>
            <a:off x="938441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bar-26-1"/>
          <p:cNvSpPr/>
          <p:nvPr/>
        </p:nvSpPr>
        <p:spPr>
          <a:xfrm>
            <a:off x="9384417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bar-26-2"/>
          <p:cNvSpPr/>
          <p:nvPr/>
        </p:nvSpPr>
        <p:spPr>
          <a:xfrm>
            <a:off x="9384417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label-26"/>
          <p:cNvSpPr txBox="1"/>
          <p:nvPr/>
        </p:nvSpPr>
        <p:spPr>
          <a:xfrm rot="3300000">
            <a:off x="914053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alco(thi)ol(para)</a:t>
            </a:r>
          </a:p>
        </p:txBody>
      </p:sp>
      <p:sp>
        <p:nvSpPr>
          <p:cNvPr id="111" name="bar-27-0"/>
          <p:cNvSpPr/>
          <p:nvPr/>
        </p:nvSpPr>
        <p:spPr>
          <a:xfrm>
            <a:off x="9715541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bar-27-1"/>
          <p:cNvSpPr/>
          <p:nvPr/>
        </p:nvSpPr>
        <p:spPr>
          <a:xfrm>
            <a:off x="9715541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bar-27-2"/>
          <p:cNvSpPr/>
          <p:nvPr/>
        </p:nvSpPr>
        <p:spPr>
          <a:xfrm>
            <a:off x="9715541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label-27"/>
          <p:cNvSpPr txBox="1"/>
          <p:nvPr/>
        </p:nvSpPr>
        <p:spPr>
          <a:xfrm rot="3300000">
            <a:off x="947166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</a:t>
            </a:r>
          </a:p>
        </p:txBody>
      </p:sp>
      <p:sp>
        <p:nvSpPr>
          <p:cNvPr id="115" name="bar-28-0"/>
          <p:cNvSpPr/>
          <p:nvPr/>
        </p:nvSpPr>
        <p:spPr>
          <a:xfrm>
            <a:off x="10046665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bar-28-1"/>
          <p:cNvSpPr/>
          <p:nvPr/>
        </p:nvSpPr>
        <p:spPr>
          <a:xfrm>
            <a:off x="10046665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bar-28-2"/>
          <p:cNvSpPr/>
          <p:nvPr/>
        </p:nvSpPr>
        <p:spPr>
          <a:xfrm>
            <a:off x="10046665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label-28"/>
          <p:cNvSpPr txBox="1"/>
          <p:nvPr/>
        </p:nvSpPr>
        <p:spPr>
          <a:xfrm rot="3300000">
            <a:off x="980278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 ver 2</a:t>
            </a:r>
          </a:p>
        </p:txBody>
      </p:sp>
      <p:sp>
        <p:nvSpPr>
          <p:cNvPr id="119" name="bar-29-0"/>
          <p:cNvSpPr/>
          <p:nvPr/>
        </p:nvSpPr>
        <p:spPr>
          <a:xfrm>
            <a:off x="10377788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bar-29-1"/>
          <p:cNvSpPr/>
          <p:nvPr/>
        </p:nvSpPr>
        <p:spPr>
          <a:xfrm>
            <a:off x="10377788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bar-29-2"/>
          <p:cNvSpPr/>
          <p:nvPr/>
        </p:nvSpPr>
        <p:spPr>
          <a:xfrm>
            <a:off x="10377788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label-29"/>
          <p:cNvSpPr txBox="1"/>
          <p:nvPr/>
        </p:nvSpPr>
        <p:spPr>
          <a:xfrm rot="3300000">
            <a:off x="1013390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Wolf kishner reduction</a:t>
            </a:r>
          </a:p>
        </p:txBody>
      </p:sp>
      <p:sp>
        <p:nvSpPr>
          <p:cNvPr id="123" name="bar-30-0"/>
          <p:cNvSpPr/>
          <p:nvPr/>
        </p:nvSpPr>
        <p:spPr>
          <a:xfrm>
            <a:off x="10708912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bar-30-1"/>
          <p:cNvSpPr/>
          <p:nvPr/>
        </p:nvSpPr>
        <p:spPr>
          <a:xfrm>
            <a:off x="10708912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bar-30-2"/>
          <p:cNvSpPr/>
          <p:nvPr/>
        </p:nvSpPr>
        <p:spPr>
          <a:xfrm>
            <a:off x="10708912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label-30"/>
          <p:cNvSpPr txBox="1"/>
          <p:nvPr/>
        </p:nvSpPr>
        <p:spPr>
          <a:xfrm rot="3300000">
            <a:off x="1046503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Base cat ester hydrolysis</a:t>
            </a:r>
          </a:p>
        </p:txBody>
      </p:sp>
      <p:sp>
        <p:nvSpPr>
          <p:cNvPr id="127" name="bar-31-0"/>
          <p:cNvSpPr/>
          <p:nvPr/>
        </p:nvSpPr>
        <p:spPr>
          <a:xfrm>
            <a:off x="11040036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bar-31-1"/>
          <p:cNvSpPr/>
          <p:nvPr/>
        </p:nvSpPr>
        <p:spPr>
          <a:xfrm>
            <a:off x="11040036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ar-31-2"/>
          <p:cNvSpPr/>
          <p:nvPr/>
        </p:nvSpPr>
        <p:spPr>
          <a:xfrm>
            <a:off x="11040036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label-31"/>
          <p:cNvSpPr txBox="1"/>
          <p:nvPr/>
        </p:nvSpPr>
        <p:spPr>
          <a:xfrm rot="3300000">
            <a:off x="1079615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Nitrile reduction</a:t>
            </a:r>
          </a:p>
        </p:txBody>
      </p:sp>
      <p:sp>
        <p:nvSpPr>
          <p:cNvPr id="131" name="bar-32-0"/>
          <p:cNvSpPr/>
          <p:nvPr/>
        </p:nvSpPr>
        <p:spPr>
          <a:xfrm>
            <a:off x="11371159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bar-32-1"/>
          <p:cNvSpPr/>
          <p:nvPr/>
        </p:nvSpPr>
        <p:spPr>
          <a:xfrm>
            <a:off x="11371159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bar-32-2"/>
          <p:cNvSpPr/>
          <p:nvPr/>
        </p:nvSpPr>
        <p:spPr>
          <a:xfrm>
            <a:off x="11371159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label-32"/>
          <p:cNvSpPr txBox="1"/>
          <p:nvPr/>
        </p:nvSpPr>
        <p:spPr>
          <a:xfrm rot="3300000">
            <a:off x="1112727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Sulfide oxidation by peroxide</a:t>
            </a:r>
          </a:p>
        </p:txBody>
      </p:sp>
      <p:sp>
        <p:nvSpPr>
          <p:cNvPr id="135" name="legend-box-0"/>
          <p:cNvSpPr/>
          <p:nvPr/>
        </p:nvSpPr>
        <p:spPr>
          <a:xfrm>
            <a:off x="7315200" y="548640"/>
            <a:ext cx="146304" cy="146304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legend-label-0"/>
          <p:cNvSpPr txBox="1"/>
          <p:nvPr/>
        </p:nvSpPr>
        <p:spPr>
          <a:xfrm>
            <a:off x="749807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Success</a:t>
            </a:r>
          </a:p>
        </p:txBody>
      </p:sp>
      <p:sp>
        <p:nvSpPr>
          <p:cNvPr id="137" name="legend-box-1"/>
          <p:cNvSpPr/>
          <p:nvPr/>
        </p:nvSpPr>
        <p:spPr>
          <a:xfrm>
            <a:off x="8732520" y="548640"/>
            <a:ext cx="146304" cy="14630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legend-label-1"/>
          <p:cNvSpPr txBox="1"/>
          <p:nvPr/>
        </p:nvSpPr>
        <p:spPr>
          <a:xfrm>
            <a:off x="8915400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Found with other mechanisms</a:t>
            </a:r>
          </a:p>
        </p:txBody>
      </p:sp>
      <p:sp>
        <p:nvSpPr>
          <p:cNvPr id="139" name="legend-box-2"/>
          <p:cNvSpPr/>
          <p:nvPr/>
        </p:nvSpPr>
        <p:spPr>
          <a:xfrm>
            <a:off x="10149840" y="548640"/>
            <a:ext cx="146304" cy="146304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legend-label-2"/>
          <p:cNvSpPr txBox="1"/>
          <p:nvPr/>
        </p:nvSpPr>
        <p:spPr>
          <a:xfrm>
            <a:off x="1033271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Not found</a:t>
            </a:r>
          </a:p>
        </p:txBody>
      </p:sp>
      <p:sp>
        <p:nvSpPr>
          <p:cNvPr id="141" name="x-axis-title"/>
          <p:cNvSpPr txBox="1"/>
          <p:nvPr/>
        </p:nvSpPr>
        <p:spPr>
          <a:xfrm>
            <a:off x="4846320" y="6473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Reaction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rt-title"/>
          <p:cNvSpPr txBox="1"/>
          <p:nvPr/>
        </p:nvSpPr>
        <p:spPr>
          <a:xfrm>
            <a:off x="3749039" y="182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Results of benchmarking by reaction type</a:t>
            </a:r>
          </a:p>
        </p:txBody>
      </p:sp>
      <p:sp>
        <p:nvSpPr>
          <p:cNvPr id="3" name="bar-0-0"/>
          <p:cNvSpPr/>
          <p:nvPr/>
        </p:nvSpPr>
        <p:spPr>
          <a:xfrm>
            <a:off x="775203" y="960119"/>
            <a:ext cx="152316" cy="406908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r-0-1"/>
          <p:cNvSpPr/>
          <p:nvPr/>
        </p:nvSpPr>
        <p:spPr>
          <a:xfrm>
            <a:off x="775203" y="96011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r-0-2"/>
          <p:cNvSpPr/>
          <p:nvPr/>
        </p:nvSpPr>
        <p:spPr>
          <a:xfrm>
            <a:off x="775203" y="96011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bel-0"/>
          <p:cNvSpPr txBox="1"/>
          <p:nvPr/>
        </p:nvSpPr>
        <p:spPr>
          <a:xfrm rot="3300000">
            <a:off x="53132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Dcc condensation</a:t>
            </a:r>
          </a:p>
        </p:txBody>
      </p:sp>
      <p:sp>
        <p:nvSpPr>
          <p:cNvPr id="7" name="bar-1-0"/>
          <p:cNvSpPr/>
          <p:nvPr/>
        </p:nvSpPr>
        <p:spPr>
          <a:xfrm>
            <a:off x="1106327" y="1485162"/>
            <a:ext cx="152316" cy="354403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r-1-1"/>
          <p:cNvSpPr/>
          <p:nvPr/>
        </p:nvSpPr>
        <p:spPr>
          <a:xfrm>
            <a:off x="1106327" y="1485162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r-1-2"/>
          <p:cNvSpPr/>
          <p:nvPr/>
        </p:nvSpPr>
        <p:spPr>
          <a:xfrm>
            <a:off x="1106327" y="1485162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-1"/>
          <p:cNvSpPr txBox="1"/>
          <p:nvPr/>
        </p:nvSpPr>
        <p:spPr>
          <a:xfrm rot="3300000">
            <a:off x="86244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(thio)carbonyl or sulfonyl</a:t>
            </a:r>
          </a:p>
        </p:txBody>
      </p:sp>
      <p:sp>
        <p:nvSpPr>
          <p:cNvPr id="11" name="bar-2-0"/>
          <p:cNvSpPr/>
          <p:nvPr/>
        </p:nvSpPr>
        <p:spPr>
          <a:xfrm>
            <a:off x="1437450" y="3191550"/>
            <a:ext cx="152316" cy="1837649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-2-1"/>
          <p:cNvSpPr/>
          <p:nvPr/>
        </p:nvSpPr>
        <p:spPr>
          <a:xfrm>
            <a:off x="1437450" y="319155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-2-2"/>
          <p:cNvSpPr/>
          <p:nvPr/>
        </p:nvSpPr>
        <p:spPr>
          <a:xfrm>
            <a:off x="1437450" y="3191550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bel-2"/>
          <p:cNvSpPr txBox="1"/>
          <p:nvPr/>
        </p:nvSpPr>
        <p:spPr>
          <a:xfrm rot="3300000">
            <a:off x="119356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 alcohol(thiol)</a:t>
            </a:r>
          </a:p>
        </p:txBody>
      </p:sp>
      <p:sp>
        <p:nvSpPr>
          <p:cNvPr id="15" name="bar-3-0"/>
          <p:cNvSpPr/>
          <p:nvPr/>
        </p:nvSpPr>
        <p:spPr>
          <a:xfrm>
            <a:off x="1768574" y="3716593"/>
            <a:ext cx="152316" cy="1312606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-3-1"/>
          <p:cNvSpPr/>
          <p:nvPr/>
        </p:nvSpPr>
        <p:spPr>
          <a:xfrm>
            <a:off x="1768574" y="3716593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-3-2"/>
          <p:cNvSpPr/>
          <p:nvPr/>
        </p:nvSpPr>
        <p:spPr>
          <a:xfrm>
            <a:off x="1768574" y="3322811"/>
            <a:ext cx="152316" cy="39378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el-3"/>
          <p:cNvSpPr txBox="1"/>
          <p:nvPr/>
        </p:nvSpPr>
        <p:spPr>
          <a:xfrm rot="3300000">
            <a:off x="152469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</a:t>
            </a:r>
          </a:p>
        </p:txBody>
      </p:sp>
      <p:sp>
        <p:nvSpPr>
          <p:cNvPr id="19" name="bar-4-0"/>
          <p:cNvSpPr/>
          <p:nvPr/>
        </p:nvSpPr>
        <p:spPr>
          <a:xfrm>
            <a:off x="2099697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-4-1"/>
          <p:cNvSpPr/>
          <p:nvPr/>
        </p:nvSpPr>
        <p:spPr>
          <a:xfrm>
            <a:off x="2099697" y="3716593"/>
            <a:ext cx="152316" cy="1181345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-4-2"/>
          <p:cNvSpPr/>
          <p:nvPr/>
        </p:nvSpPr>
        <p:spPr>
          <a:xfrm>
            <a:off x="2099697" y="3716593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el-4"/>
          <p:cNvSpPr txBox="1"/>
          <p:nvPr/>
        </p:nvSpPr>
        <p:spPr>
          <a:xfrm rot="3300000">
            <a:off x="185581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Boc deprotection</a:t>
            </a:r>
          </a:p>
        </p:txBody>
      </p:sp>
      <p:sp>
        <p:nvSpPr>
          <p:cNvPr id="23" name="bar-5-0"/>
          <p:cNvSpPr/>
          <p:nvPr/>
        </p:nvSpPr>
        <p:spPr>
          <a:xfrm>
            <a:off x="2430821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-5-1"/>
          <p:cNvSpPr/>
          <p:nvPr/>
        </p:nvSpPr>
        <p:spPr>
          <a:xfrm>
            <a:off x="2430821" y="4110375"/>
            <a:ext cx="152316" cy="78756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-5-2"/>
          <p:cNvSpPr/>
          <p:nvPr/>
        </p:nvSpPr>
        <p:spPr>
          <a:xfrm>
            <a:off x="2430821" y="4110375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bel-5"/>
          <p:cNvSpPr txBox="1"/>
          <p:nvPr/>
        </p:nvSpPr>
        <p:spPr>
          <a:xfrm rot="3300000">
            <a:off x="218694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Reductive amination</a:t>
            </a:r>
          </a:p>
        </p:txBody>
      </p:sp>
      <p:sp>
        <p:nvSpPr>
          <p:cNvPr id="27" name="bar-6-0"/>
          <p:cNvSpPr/>
          <p:nvPr/>
        </p:nvSpPr>
        <p:spPr>
          <a:xfrm>
            <a:off x="2761945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-6-1"/>
          <p:cNvSpPr/>
          <p:nvPr/>
        </p:nvSpPr>
        <p:spPr>
          <a:xfrm>
            <a:off x="2761945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r-6-2"/>
          <p:cNvSpPr/>
          <p:nvPr/>
        </p:nvSpPr>
        <p:spPr>
          <a:xfrm>
            <a:off x="2761945" y="4241636"/>
            <a:ext cx="152316" cy="65630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abel-6"/>
          <p:cNvSpPr txBox="1"/>
          <p:nvPr/>
        </p:nvSpPr>
        <p:spPr>
          <a:xfrm rot="3300000">
            <a:off x="251806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Snar(ortho)</a:t>
            </a:r>
          </a:p>
        </p:txBody>
      </p:sp>
      <p:sp>
        <p:nvSpPr>
          <p:cNvPr id="31" name="bar-7-0"/>
          <p:cNvSpPr/>
          <p:nvPr/>
        </p:nvSpPr>
        <p:spPr>
          <a:xfrm>
            <a:off x="3093068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ar-7-1"/>
          <p:cNvSpPr/>
          <p:nvPr/>
        </p:nvSpPr>
        <p:spPr>
          <a:xfrm>
            <a:off x="3093068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ar-7-2"/>
          <p:cNvSpPr/>
          <p:nvPr/>
        </p:nvSpPr>
        <p:spPr>
          <a:xfrm>
            <a:off x="3093068" y="4504157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abel-7"/>
          <p:cNvSpPr txBox="1"/>
          <p:nvPr/>
        </p:nvSpPr>
        <p:spPr>
          <a:xfrm rot="3300000">
            <a:off x="284918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Alcohol attack to carbonyl or sulfonyl</a:t>
            </a:r>
          </a:p>
        </p:txBody>
      </p:sp>
      <p:sp>
        <p:nvSpPr>
          <p:cNvPr id="35" name="bar-8-0"/>
          <p:cNvSpPr/>
          <p:nvPr/>
        </p:nvSpPr>
        <p:spPr>
          <a:xfrm>
            <a:off x="3424192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-8-1"/>
          <p:cNvSpPr/>
          <p:nvPr/>
        </p:nvSpPr>
        <p:spPr>
          <a:xfrm>
            <a:off x="3424192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8-2"/>
          <p:cNvSpPr/>
          <p:nvPr/>
        </p:nvSpPr>
        <p:spPr>
          <a:xfrm>
            <a:off x="3424192" y="4504157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abel-8"/>
          <p:cNvSpPr txBox="1"/>
          <p:nvPr/>
        </p:nvSpPr>
        <p:spPr>
          <a:xfrm rot="3300000">
            <a:off x="318031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Imine formation</a:t>
            </a:r>
          </a:p>
        </p:txBody>
      </p:sp>
      <p:sp>
        <p:nvSpPr>
          <p:cNvPr id="39" name="bar-9-0"/>
          <p:cNvSpPr/>
          <p:nvPr/>
        </p:nvSpPr>
        <p:spPr>
          <a:xfrm>
            <a:off x="3755316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9-1"/>
          <p:cNvSpPr/>
          <p:nvPr/>
        </p:nvSpPr>
        <p:spPr>
          <a:xfrm>
            <a:off x="3755316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9-2"/>
          <p:cNvSpPr/>
          <p:nvPr/>
        </p:nvSpPr>
        <p:spPr>
          <a:xfrm>
            <a:off x="3755316" y="463541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abel-9"/>
          <p:cNvSpPr txBox="1"/>
          <p:nvPr/>
        </p:nvSpPr>
        <p:spPr>
          <a:xfrm rot="3300000">
            <a:off x="351143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Carbonyl reduction</a:t>
            </a:r>
          </a:p>
        </p:txBody>
      </p:sp>
      <p:sp>
        <p:nvSpPr>
          <p:cNvPr id="43" name="bar-10-0"/>
          <p:cNvSpPr/>
          <p:nvPr/>
        </p:nvSpPr>
        <p:spPr>
          <a:xfrm>
            <a:off x="4086439" y="4766678"/>
            <a:ext cx="152316" cy="26252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10-1"/>
          <p:cNvSpPr/>
          <p:nvPr/>
        </p:nvSpPr>
        <p:spPr>
          <a:xfrm>
            <a:off x="4086439" y="476667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-10-2"/>
          <p:cNvSpPr/>
          <p:nvPr/>
        </p:nvSpPr>
        <p:spPr>
          <a:xfrm>
            <a:off x="4086439" y="463541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abel-10"/>
          <p:cNvSpPr txBox="1"/>
          <p:nvPr/>
        </p:nvSpPr>
        <p:spPr>
          <a:xfrm rot="3300000">
            <a:off x="384255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Ester reduction</a:t>
            </a:r>
          </a:p>
        </p:txBody>
      </p:sp>
      <p:sp>
        <p:nvSpPr>
          <p:cNvPr id="47" name="bar-11-0"/>
          <p:cNvSpPr/>
          <p:nvPr/>
        </p:nvSpPr>
        <p:spPr>
          <a:xfrm>
            <a:off x="4417563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ar-11-1"/>
          <p:cNvSpPr/>
          <p:nvPr/>
        </p:nvSpPr>
        <p:spPr>
          <a:xfrm>
            <a:off x="4417563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ar-11-2"/>
          <p:cNvSpPr/>
          <p:nvPr/>
        </p:nvSpPr>
        <p:spPr>
          <a:xfrm>
            <a:off x="4417563" y="4635418"/>
            <a:ext cx="152316" cy="39378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abel-11"/>
          <p:cNvSpPr txBox="1"/>
          <p:nvPr/>
        </p:nvSpPr>
        <p:spPr>
          <a:xfrm rot="3300000">
            <a:off x="417368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Snar(para)</a:t>
            </a:r>
          </a:p>
        </p:txBody>
      </p:sp>
      <p:sp>
        <p:nvSpPr>
          <p:cNvPr id="51" name="bar-12-0"/>
          <p:cNvSpPr/>
          <p:nvPr/>
        </p:nvSpPr>
        <p:spPr>
          <a:xfrm>
            <a:off x="4748687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ar-12-1"/>
          <p:cNvSpPr/>
          <p:nvPr/>
        </p:nvSpPr>
        <p:spPr>
          <a:xfrm>
            <a:off x="4748687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r-12-2"/>
          <p:cNvSpPr/>
          <p:nvPr/>
        </p:nvSpPr>
        <p:spPr>
          <a:xfrm>
            <a:off x="4748687" y="476667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bel-12"/>
          <p:cNvSpPr txBox="1"/>
          <p:nvPr/>
        </p:nvSpPr>
        <p:spPr>
          <a:xfrm rot="3300000">
            <a:off x="450480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Aldol condensation</a:t>
            </a:r>
          </a:p>
        </p:txBody>
      </p:sp>
      <p:sp>
        <p:nvSpPr>
          <p:cNvPr id="55" name="bar-13-0"/>
          <p:cNvSpPr/>
          <p:nvPr/>
        </p:nvSpPr>
        <p:spPr>
          <a:xfrm>
            <a:off x="5079810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r-13-1"/>
          <p:cNvSpPr/>
          <p:nvPr/>
        </p:nvSpPr>
        <p:spPr>
          <a:xfrm>
            <a:off x="5079810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r-13-2"/>
          <p:cNvSpPr/>
          <p:nvPr/>
        </p:nvSpPr>
        <p:spPr>
          <a:xfrm>
            <a:off x="5079810" y="476667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abel-13"/>
          <p:cNvSpPr txBox="1"/>
          <p:nvPr/>
        </p:nvSpPr>
        <p:spPr>
          <a:xfrm rot="3300000">
            <a:off x="483592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Double sn2</a:t>
            </a:r>
          </a:p>
        </p:txBody>
      </p:sp>
      <p:sp>
        <p:nvSpPr>
          <p:cNvPr id="59" name="bar-14-0"/>
          <p:cNvSpPr/>
          <p:nvPr/>
        </p:nvSpPr>
        <p:spPr>
          <a:xfrm>
            <a:off x="5410934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ar-14-1"/>
          <p:cNvSpPr/>
          <p:nvPr/>
        </p:nvSpPr>
        <p:spPr>
          <a:xfrm>
            <a:off x="5410934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ar-14-2"/>
          <p:cNvSpPr/>
          <p:nvPr/>
        </p:nvSpPr>
        <p:spPr>
          <a:xfrm>
            <a:off x="5410934" y="4766678"/>
            <a:ext cx="152316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abel-14"/>
          <p:cNvSpPr txBox="1"/>
          <p:nvPr/>
        </p:nvSpPr>
        <p:spPr>
          <a:xfrm rot="3300000">
            <a:off x="516705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Staudinger</a:t>
            </a:r>
          </a:p>
        </p:txBody>
      </p:sp>
      <p:sp>
        <p:nvSpPr>
          <p:cNvPr id="63" name="bar-15-0"/>
          <p:cNvSpPr/>
          <p:nvPr/>
        </p:nvSpPr>
        <p:spPr>
          <a:xfrm>
            <a:off x="574205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ar-15-1"/>
          <p:cNvSpPr/>
          <p:nvPr/>
        </p:nvSpPr>
        <p:spPr>
          <a:xfrm>
            <a:off x="5742057" y="4897939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ar-15-2"/>
          <p:cNvSpPr/>
          <p:nvPr/>
        </p:nvSpPr>
        <p:spPr>
          <a:xfrm>
            <a:off x="5742057" y="476667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abel-15"/>
          <p:cNvSpPr txBox="1"/>
          <p:nvPr/>
        </p:nvSpPr>
        <p:spPr>
          <a:xfrm rot="3300000">
            <a:off x="549817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Carboxylic acid derivative hydrolysis or formation</a:t>
            </a:r>
          </a:p>
        </p:txBody>
      </p:sp>
      <p:sp>
        <p:nvSpPr>
          <p:cNvPr id="67" name="bar-16-0"/>
          <p:cNvSpPr/>
          <p:nvPr/>
        </p:nvSpPr>
        <p:spPr>
          <a:xfrm>
            <a:off x="6073181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ar-16-1"/>
          <p:cNvSpPr/>
          <p:nvPr/>
        </p:nvSpPr>
        <p:spPr>
          <a:xfrm>
            <a:off x="6073181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ar-16-2"/>
          <p:cNvSpPr/>
          <p:nvPr/>
        </p:nvSpPr>
        <p:spPr>
          <a:xfrm>
            <a:off x="6073181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abel-16"/>
          <p:cNvSpPr txBox="1"/>
          <p:nvPr/>
        </p:nvSpPr>
        <p:spPr>
          <a:xfrm rot="3300000">
            <a:off x="582930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Friedel crafts acylation</a:t>
            </a:r>
          </a:p>
        </p:txBody>
      </p:sp>
      <p:sp>
        <p:nvSpPr>
          <p:cNvPr id="71" name="bar-17-0"/>
          <p:cNvSpPr/>
          <p:nvPr/>
        </p:nvSpPr>
        <p:spPr>
          <a:xfrm>
            <a:off x="6404305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ar-17-1"/>
          <p:cNvSpPr/>
          <p:nvPr/>
        </p:nvSpPr>
        <p:spPr>
          <a:xfrm>
            <a:off x="6404305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ar-17-2"/>
          <p:cNvSpPr/>
          <p:nvPr/>
        </p:nvSpPr>
        <p:spPr>
          <a:xfrm>
            <a:off x="6404305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abel-17"/>
          <p:cNvSpPr txBox="1"/>
          <p:nvPr/>
        </p:nvSpPr>
        <p:spPr>
          <a:xfrm rot="3300000">
            <a:off x="616042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Grignard</a:t>
            </a:r>
          </a:p>
        </p:txBody>
      </p:sp>
      <p:sp>
        <p:nvSpPr>
          <p:cNvPr id="75" name="bar-18-0"/>
          <p:cNvSpPr/>
          <p:nvPr/>
        </p:nvSpPr>
        <p:spPr>
          <a:xfrm>
            <a:off x="6735428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bar-18-1"/>
          <p:cNvSpPr/>
          <p:nvPr/>
        </p:nvSpPr>
        <p:spPr>
          <a:xfrm>
            <a:off x="6735428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ar-18-2"/>
          <p:cNvSpPr/>
          <p:nvPr/>
        </p:nvSpPr>
        <p:spPr>
          <a:xfrm>
            <a:off x="6735428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abel-18"/>
          <p:cNvSpPr txBox="1"/>
          <p:nvPr/>
        </p:nvSpPr>
        <p:spPr>
          <a:xfrm rot="3300000">
            <a:off x="649154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Paal knorr pyrrole synthesis</a:t>
            </a:r>
          </a:p>
        </p:txBody>
      </p:sp>
      <p:sp>
        <p:nvSpPr>
          <p:cNvPr id="79" name="bar-19-0"/>
          <p:cNvSpPr/>
          <p:nvPr/>
        </p:nvSpPr>
        <p:spPr>
          <a:xfrm>
            <a:off x="7066552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bar-19-1"/>
          <p:cNvSpPr/>
          <p:nvPr/>
        </p:nvSpPr>
        <p:spPr>
          <a:xfrm>
            <a:off x="7066552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bar-19-2"/>
          <p:cNvSpPr/>
          <p:nvPr/>
        </p:nvSpPr>
        <p:spPr>
          <a:xfrm>
            <a:off x="7066552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label-19"/>
          <p:cNvSpPr txBox="1"/>
          <p:nvPr/>
        </p:nvSpPr>
        <p:spPr>
          <a:xfrm rot="3300000">
            <a:off x="682267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iso(thio)cyanate</a:t>
            </a:r>
          </a:p>
        </p:txBody>
      </p:sp>
      <p:sp>
        <p:nvSpPr>
          <p:cNvPr id="83" name="bar-20-0"/>
          <p:cNvSpPr/>
          <p:nvPr/>
        </p:nvSpPr>
        <p:spPr>
          <a:xfrm>
            <a:off x="7397676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ar-20-1"/>
          <p:cNvSpPr/>
          <p:nvPr/>
        </p:nvSpPr>
        <p:spPr>
          <a:xfrm>
            <a:off x="7397676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ar-20-2"/>
          <p:cNvSpPr/>
          <p:nvPr/>
        </p:nvSpPr>
        <p:spPr>
          <a:xfrm>
            <a:off x="7397676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abel-20"/>
          <p:cNvSpPr txBox="1"/>
          <p:nvPr/>
        </p:nvSpPr>
        <p:spPr>
          <a:xfrm rot="3300000">
            <a:off x="715379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Primary amide dehydration</a:t>
            </a:r>
          </a:p>
        </p:txBody>
      </p:sp>
      <p:sp>
        <p:nvSpPr>
          <p:cNvPr id="87" name="bar-21-0"/>
          <p:cNvSpPr/>
          <p:nvPr/>
        </p:nvSpPr>
        <p:spPr>
          <a:xfrm>
            <a:off x="7728799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ar-21-1"/>
          <p:cNvSpPr/>
          <p:nvPr/>
        </p:nvSpPr>
        <p:spPr>
          <a:xfrm>
            <a:off x="7728799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ar-21-2"/>
          <p:cNvSpPr/>
          <p:nvPr/>
        </p:nvSpPr>
        <p:spPr>
          <a:xfrm>
            <a:off x="7728799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abel-21"/>
          <p:cNvSpPr txBox="1"/>
          <p:nvPr/>
        </p:nvSpPr>
        <p:spPr>
          <a:xfrm rot="3300000">
            <a:off x="748491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Horner wadsworth emmons</a:t>
            </a:r>
          </a:p>
        </p:txBody>
      </p:sp>
      <p:sp>
        <p:nvSpPr>
          <p:cNvPr id="91" name="bar-22-0"/>
          <p:cNvSpPr/>
          <p:nvPr/>
        </p:nvSpPr>
        <p:spPr>
          <a:xfrm>
            <a:off x="8059923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ar-22-1"/>
          <p:cNvSpPr/>
          <p:nvPr/>
        </p:nvSpPr>
        <p:spPr>
          <a:xfrm>
            <a:off x="8059923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bar-22-2"/>
          <p:cNvSpPr/>
          <p:nvPr/>
        </p:nvSpPr>
        <p:spPr>
          <a:xfrm>
            <a:off x="8059923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abel-22"/>
          <p:cNvSpPr txBox="1"/>
          <p:nvPr/>
        </p:nvSpPr>
        <p:spPr>
          <a:xfrm rot="3300000">
            <a:off x="781604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Jones oxidation</a:t>
            </a:r>
          </a:p>
        </p:txBody>
      </p:sp>
      <p:sp>
        <p:nvSpPr>
          <p:cNvPr id="95" name="bar-23-0"/>
          <p:cNvSpPr/>
          <p:nvPr/>
        </p:nvSpPr>
        <p:spPr>
          <a:xfrm>
            <a:off x="839104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bar-23-1"/>
          <p:cNvSpPr/>
          <p:nvPr/>
        </p:nvSpPr>
        <p:spPr>
          <a:xfrm>
            <a:off x="8391047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bar-23-2"/>
          <p:cNvSpPr/>
          <p:nvPr/>
        </p:nvSpPr>
        <p:spPr>
          <a:xfrm>
            <a:off x="8391047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abel-23"/>
          <p:cNvSpPr txBox="1"/>
          <p:nvPr/>
        </p:nvSpPr>
        <p:spPr>
          <a:xfrm rot="3300000">
            <a:off x="814716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Markovnikov addition</a:t>
            </a:r>
          </a:p>
        </p:txBody>
      </p:sp>
      <p:sp>
        <p:nvSpPr>
          <p:cNvPr id="99" name="bar-24-0"/>
          <p:cNvSpPr/>
          <p:nvPr/>
        </p:nvSpPr>
        <p:spPr>
          <a:xfrm>
            <a:off x="8722170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bar-24-1"/>
          <p:cNvSpPr/>
          <p:nvPr/>
        </p:nvSpPr>
        <p:spPr>
          <a:xfrm>
            <a:off x="8722170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bar-24-2"/>
          <p:cNvSpPr/>
          <p:nvPr/>
        </p:nvSpPr>
        <p:spPr>
          <a:xfrm>
            <a:off x="8722170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label-24"/>
          <p:cNvSpPr txBox="1"/>
          <p:nvPr/>
        </p:nvSpPr>
        <p:spPr>
          <a:xfrm rot="3300000">
            <a:off x="847828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O demethylation</a:t>
            </a:r>
          </a:p>
        </p:txBody>
      </p:sp>
      <p:sp>
        <p:nvSpPr>
          <p:cNvPr id="103" name="bar-25-0"/>
          <p:cNvSpPr/>
          <p:nvPr/>
        </p:nvSpPr>
        <p:spPr>
          <a:xfrm>
            <a:off x="9053294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bar-25-1"/>
          <p:cNvSpPr/>
          <p:nvPr/>
        </p:nvSpPr>
        <p:spPr>
          <a:xfrm>
            <a:off x="9053294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bar-25-2"/>
          <p:cNvSpPr/>
          <p:nvPr/>
        </p:nvSpPr>
        <p:spPr>
          <a:xfrm>
            <a:off x="9053294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abel-25"/>
          <p:cNvSpPr txBox="1"/>
          <p:nvPr/>
        </p:nvSpPr>
        <p:spPr>
          <a:xfrm rot="3300000">
            <a:off x="880941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alco(thi)ol(ortho)</a:t>
            </a:r>
          </a:p>
        </p:txBody>
      </p:sp>
      <p:sp>
        <p:nvSpPr>
          <p:cNvPr id="107" name="bar-26-0"/>
          <p:cNvSpPr/>
          <p:nvPr/>
        </p:nvSpPr>
        <p:spPr>
          <a:xfrm>
            <a:off x="938441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bar-26-1"/>
          <p:cNvSpPr/>
          <p:nvPr/>
        </p:nvSpPr>
        <p:spPr>
          <a:xfrm>
            <a:off x="9384417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bar-26-2"/>
          <p:cNvSpPr/>
          <p:nvPr/>
        </p:nvSpPr>
        <p:spPr>
          <a:xfrm>
            <a:off x="9384417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label-26"/>
          <p:cNvSpPr txBox="1"/>
          <p:nvPr/>
        </p:nvSpPr>
        <p:spPr>
          <a:xfrm rot="3300000">
            <a:off x="914053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alco(thi)ol(para)</a:t>
            </a:r>
          </a:p>
        </p:txBody>
      </p:sp>
      <p:sp>
        <p:nvSpPr>
          <p:cNvPr id="111" name="bar-27-0"/>
          <p:cNvSpPr/>
          <p:nvPr/>
        </p:nvSpPr>
        <p:spPr>
          <a:xfrm>
            <a:off x="9715541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bar-27-1"/>
          <p:cNvSpPr/>
          <p:nvPr/>
        </p:nvSpPr>
        <p:spPr>
          <a:xfrm>
            <a:off x="9715541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bar-27-2"/>
          <p:cNvSpPr/>
          <p:nvPr/>
        </p:nvSpPr>
        <p:spPr>
          <a:xfrm>
            <a:off x="9715541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label-27"/>
          <p:cNvSpPr txBox="1"/>
          <p:nvPr/>
        </p:nvSpPr>
        <p:spPr>
          <a:xfrm rot="3300000">
            <a:off x="947166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</a:t>
            </a:r>
          </a:p>
        </p:txBody>
      </p:sp>
      <p:sp>
        <p:nvSpPr>
          <p:cNvPr id="115" name="bar-28-0"/>
          <p:cNvSpPr/>
          <p:nvPr/>
        </p:nvSpPr>
        <p:spPr>
          <a:xfrm>
            <a:off x="10046665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bar-28-1"/>
          <p:cNvSpPr/>
          <p:nvPr/>
        </p:nvSpPr>
        <p:spPr>
          <a:xfrm>
            <a:off x="10046665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bar-28-2"/>
          <p:cNvSpPr/>
          <p:nvPr/>
        </p:nvSpPr>
        <p:spPr>
          <a:xfrm>
            <a:off x="10046665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label-28"/>
          <p:cNvSpPr txBox="1"/>
          <p:nvPr/>
        </p:nvSpPr>
        <p:spPr>
          <a:xfrm rot="3300000">
            <a:off x="980278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 ver 2</a:t>
            </a:r>
          </a:p>
        </p:txBody>
      </p:sp>
      <p:sp>
        <p:nvSpPr>
          <p:cNvPr id="119" name="bar-29-0"/>
          <p:cNvSpPr/>
          <p:nvPr/>
        </p:nvSpPr>
        <p:spPr>
          <a:xfrm>
            <a:off x="10377788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bar-29-1"/>
          <p:cNvSpPr/>
          <p:nvPr/>
        </p:nvSpPr>
        <p:spPr>
          <a:xfrm>
            <a:off x="10377788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bar-29-2"/>
          <p:cNvSpPr/>
          <p:nvPr/>
        </p:nvSpPr>
        <p:spPr>
          <a:xfrm>
            <a:off x="10377788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label-29"/>
          <p:cNvSpPr txBox="1"/>
          <p:nvPr/>
        </p:nvSpPr>
        <p:spPr>
          <a:xfrm rot="3300000">
            <a:off x="1013390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Wolf kishner reduction</a:t>
            </a:r>
          </a:p>
        </p:txBody>
      </p:sp>
      <p:sp>
        <p:nvSpPr>
          <p:cNvPr id="123" name="bar-30-0"/>
          <p:cNvSpPr/>
          <p:nvPr/>
        </p:nvSpPr>
        <p:spPr>
          <a:xfrm>
            <a:off x="10708912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bar-30-1"/>
          <p:cNvSpPr/>
          <p:nvPr/>
        </p:nvSpPr>
        <p:spPr>
          <a:xfrm>
            <a:off x="10708912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bar-30-2"/>
          <p:cNvSpPr/>
          <p:nvPr/>
        </p:nvSpPr>
        <p:spPr>
          <a:xfrm>
            <a:off x="10708912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label-30"/>
          <p:cNvSpPr txBox="1"/>
          <p:nvPr/>
        </p:nvSpPr>
        <p:spPr>
          <a:xfrm rot="3300000">
            <a:off x="1046503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Base cat ester hydrolysis</a:t>
            </a:r>
          </a:p>
        </p:txBody>
      </p:sp>
      <p:sp>
        <p:nvSpPr>
          <p:cNvPr id="127" name="bar-31-0"/>
          <p:cNvSpPr/>
          <p:nvPr/>
        </p:nvSpPr>
        <p:spPr>
          <a:xfrm>
            <a:off x="11040036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bar-31-1"/>
          <p:cNvSpPr/>
          <p:nvPr/>
        </p:nvSpPr>
        <p:spPr>
          <a:xfrm>
            <a:off x="11040036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ar-31-2"/>
          <p:cNvSpPr/>
          <p:nvPr/>
        </p:nvSpPr>
        <p:spPr>
          <a:xfrm>
            <a:off x="11040036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label-31"/>
          <p:cNvSpPr txBox="1"/>
          <p:nvPr/>
        </p:nvSpPr>
        <p:spPr>
          <a:xfrm rot="3300000">
            <a:off x="1079615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Nitrile reduction</a:t>
            </a:r>
          </a:p>
        </p:txBody>
      </p:sp>
      <p:sp>
        <p:nvSpPr>
          <p:cNvPr id="131" name="bar-32-0"/>
          <p:cNvSpPr/>
          <p:nvPr/>
        </p:nvSpPr>
        <p:spPr>
          <a:xfrm>
            <a:off x="11371159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bar-32-1"/>
          <p:cNvSpPr/>
          <p:nvPr/>
        </p:nvSpPr>
        <p:spPr>
          <a:xfrm>
            <a:off x="11371159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bar-32-2"/>
          <p:cNvSpPr/>
          <p:nvPr/>
        </p:nvSpPr>
        <p:spPr>
          <a:xfrm>
            <a:off x="11371159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label-32"/>
          <p:cNvSpPr txBox="1"/>
          <p:nvPr/>
        </p:nvSpPr>
        <p:spPr>
          <a:xfrm rot="3300000">
            <a:off x="1112727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Sulfide oxidation by peroxide</a:t>
            </a:r>
          </a:p>
        </p:txBody>
      </p:sp>
      <p:sp>
        <p:nvSpPr>
          <p:cNvPr id="135" name="legend-box-0"/>
          <p:cNvSpPr/>
          <p:nvPr/>
        </p:nvSpPr>
        <p:spPr>
          <a:xfrm>
            <a:off x="7315200" y="548640"/>
            <a:ext cx="146304" cy="146304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legend-label-0"/>
          <p:cNvSpPr txBox="1"/>
          <p:nvPr/>
        </p:nvSpPr>
        <p:spPr>
          <a:xfrm>
            <a:off x="749807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Success</a:t>
            </a:r>
          </a:p>
        </p:txBody>
      </p:sp>
      <p:sp>
        <p:nvSpPr>
          <p:cNvPr id="137" name="legend-box-1"/>
          <p:cNvSpPr/>
          <p:nvPr/>
        </p:nvSpPr>
        <p:spPr>
          <a:xfrm>
            <a:off x="8732520" y="548640"/>
            <a:ext cx="146304" cy="14630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legend-label-1"/>
          <p:cNvSpPr txBox="1"/>
          <p:nvPr/>
        </p:nvSpPr>
        <p:spPr>
          <a:xfrm>
            <a:off x="8915400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Found with other mechanisms</a:t>
            </a:r>
          </a:p>
        </p:txBody>
      </p:sp>
      <p:sp>
        <p:nvSpPr>
          <p:cNvPr id="139" name="legend-box-2"/>
          <p:cNvSpPr/>
          <p:nvPr/>
        </p:nvSpPr>
        <p:spPr>
          <a:xfrm>
            <a:off x="10149840" y="548640"/>
            <a:ext cx="146304" cy="146304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legend-label-2"/>
          <p:cNvSpPr txBox="1"/>
          <p:nvPr/>
        </p:nvSpPr>
        <p:spPr>
          <a:xfrm>
            <a:off x="1033271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Not found</a:t>
            </a:r>
          </a:p>
        </p:txBody>
      </p:sp>
      <p:sp>
        <p:nvSpPr>
          <p:cNvPr id="141" name="x-axis-title"/>
          <p:cNvSpPr txBox="1"/>
          <p:nvPr/>
        </p:nvSpPr>
        <p:spPr>
          <a:xfrm>
            <a:off x="4846320" y="6473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Reaction Type</a:t>
            </a:r>
          </a:p>
        </p:txBody>
      </p:sp>
    </p:spTree>
  </p:cSld>
  <p:transition spd="slow">
    <p:morp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